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75a5ad8503fa4ffc" /><Relationship Type="http://schemas.openxmlformats.org/officeDocument/2006/relationships/extended-properties" Target="/docProps/app.xml" Id="R171a14a9a322480b" /><Relationship Type="http://schemas.openxmlformats.org/officeDocument/2006/relationships/officeDocument" Target="/ppt/presentation.xml" Id="R1783e668c3544431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5df7e6143cfc452f"/>
  </p:sldMasterIdLst>
  <p:notesMasterIdLst>
    <p:notesMasterId xmlns:r="http://schemas.openxmlformats.org/officeDocument/2006/relationships" r:id="Rd161734edaee4e95"/>
  </p:notesMasterIdLst>
  <p:sldIdLst>
    <p:sldId xmlns:r="http://schemas.openxmlformats.org/officeDocument/2006/relationships" id="256" r:id="Rb259ea77f43c4d95"/>
    <p:sldId xmlns:r="http://schemas.openxmlformats.org/officeDocument/2006/relationships" id="257" r:id="R8056797d8c0644d6"/>
    <p:sldId xmlns:r="http://schemas.openxmlformats.org/officeDocument/2006/relationships" id="258" r:id="R9b9edf2e7dbd484c"/>
    <p:sldId xmlns:r="http://schemas.openxmlformats.org/officeDocument/2006/relationships" id="259" r:id="R75557a7e555e4ce5"/>
    <p:sldId xmlns:r="http://schemas.openxmlformats.org/officeDocument/2006/relationships" id="260" r:id="R96ffb8a4d7f5453e"/>
    <p:sldId xmlns:r="http://schemas.openxmlformats.org/officeDocument/2006/relationships" id="261" r:id="R3177896a4aa54513"/>
    <p:sldId xmlns:r="http://schemas.openxmlformats.org/officeDocument/2006/relationships" id="262" r:id="R0ab8c7b4637f4571"/>
    <p:sldId xmlns:r="http://schemas.openxmlformats.org/officeDocument/2006/relationships" id="263" r:id="R8ee8124360ae4030"/>
    <p:sldId xmlns:r="http://schemas.openxmlformats.org/officeDocument/2006/relationships" id="264" r:id="Rd8f284c6c2b44663"/>
    <p:sldId xmlns:r="http://schemas.openxmlformats.org/officeDocument/2006/relationships" id="265" r:id="Rc9818ffe35094f45"/>
    <p:sldId xmlns:r="http://schemas.openxmlformats.org/officeDocument/2006/relationships" id="266" r:id="Rb2ae143826304735"/>
    <p:sldId xmlns:r="http://schemas.openxmlformats.org/officeDocument/2006/relationships" id="267" r:id="R34e0572e750a4d4e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1293ec22692a4060" /><Relationship Type="http://schemas.openxmlformats.org/officeDocument/2006/relationships/slideMaster" Target="/ppt/slideMasters/slideMaster1.xml" Id="R5df7e6143cfc452f" /><Relationship Type="http://schemas.openxmlformats.org/officeDocument/2006/relationships/notesMaster" Target="/ppt/notesMasters/notesMaster1.xml" Id="Rd161734edaee4e95" /><Relationship Type="http://schemas.openxmlformats.org/officeDocument/2006/relationships/presProps" Target="/ppt/presProps.xml" Id="Re586e65414e44fcd" /><Relationship Type="http://schemas.openxmlformats.org/officeDocument/2006/relationships/tableStyles" Target="/ppt/tableStyles.xml" Id="Rf75f5be853034555" /><Relationship Type="http://schemas.openxmlformats.org/officeDocument/2006/relationships/slide" Target="/ppt/slides/slide1.xml" Id="Rb259ea77f43c4d95" /><Relationship Type="http://schemas.openxmlformats.org/officeDocument/2006/relationships/slide" Target="/ppt/slides/slide2.xml" Id="R8056797d8c0644d6" /><Relationship Type="http://schemas.openxmlformats.org/officeDocument/2006/relationships/slide" Target="/ppt/slides/slide3.xml" Id="R9b9edf2e7dbd484c" /><Relationship Type="http://schemas.openxmlformats.org/officeDocument/2006/relationships/slide" Target="/ppt/slides/slide4.xml" Id="R75557a7e555e4ce5" /><Relationship Type="http://schemas.openxmlformats.org/officeDocument/2006/relationships/slide" Target="/ppt/slides/slide5.xml" Id="R96ffb8a4d7f5453e" /><Relationship Type="http://schemas.openxmlformats.org/officeDocument/2006/relationships/slide" Target="/ppt/slides/slide6.xml" Id="R3177896a4aa54513" /><Relationship Type="http://schemas.openxmlformats.org/officeDocument/2006/relationships/slide" Target="/ppt/slides/slide7.xml" Id="R0ab8c7b4637f4571" /><Relationship Type="http://schemas.openxmlformats.org/officeDocument/2006/relationships/slide" Target="/ppt/slides/slide8.xml" Id="R8ee8124360ae4030" /><Relationship Type="http://schemas.openxmlformats.org/officeDocument/2006/relationships/slide" Target="/ppt/slides/slide9.xml" Id="Rd8f284c6c2b44663" /><Relationship Type="http://schemas.openxmlformats.org/officeDocument/2006/relationships/slide" Target="/ppt/slides/slide10.xml" Id="Rc9818ffe35094f45" /><Relationship Type="http://schemas.openxmlformats.org/officeDocument/2006/relationships/slide" Target="/ppt/slides/slide11.xml" Id="Rb2ae143826304735" /><Relationship Type="http://schemas.openxmlformats.org/officeDocument/2006/relationships/slide" Target="/ppt/slides/slide12.xml" Id="R34e0572e750a4d4e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f549830daaff4fb9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88b44fd9febf4d13" /><Relationship Type="http://schemas.openxmlformats.org/officeDocument/2006/relationships/notesMaster" Target="/ppt/notesMasters/notesMaster1.xml" Id="Rba1478fd137d4686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7087e10c68eb430f" /><Relationship Type="http://schemas.openxmlformats.org/officeDocument/2006/relationships/notesMaster" Target="/ppt/notesMasters/notesMaster1.xml" Id="Ref832b0f1b474d63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61e157f54b1b4228" /><Relationship Type="http://schemas.openxmlformats.org/officeDocument/2006/relationships/notesMaster" Target="/ppt/notesMasters/notesMaster1.xml" Id="R147c8620b0544a7b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b7d8a81c2d174e86" /><Relationship Type="http://schemas.openxmlformats.org/officeDocument/2006/relationships/notesMaster" Target="/ppt/notesMasters/notesMaster1.xml" Id="R44cc7ba52b6c4c30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ac3fe9e785c44c0a" /><Relationship Type="http://schemas.openxmlformats.org/officeDocument/2006/relationships/notesMaster" Target="/ppt/notesMasters/notesMaster1.xml" Id="R916849b0ca4442c4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868211bf298f4015" /><Relationship Type="http://schemas.openxmlformats.org/officeDocument/2006/relationships/notesMaster" Target="/ppt/notesMasters/notesMaster1.xml" Id="Ra782d3f800fe49dd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cbae492514404279" /><Relationship Type="http://schemas.openxmlformats.org/officeDocument/2006/relationships/notesMaster" Target="/ppt/notesMasters/notesMaster1.xml" Id="Rcefcd683c3844310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55ac8309752345a9" /><Relationship Type="http://schemas.openxmlformats.org/officeDocument/2006/relationships/notesMaster" Target="/ppt/notesMasters/notesMaster1.xml" Id="R474b68d0dc924103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585d4b953e4e4832" /><Relationship Type="http://schemas.openxmlformats.org/officeDocument/2006/relationships/notesMaster" Target="/ppt/notesMasters/notesMaster1.xml" Id="R412ff1d9046a4cdc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53dadeb0be854d97" /><Relationship Type="http://schemas.openxmlformats.org/officeDocument/2006/relationships/notesMaster" Target="/ppt/notesMasters/notesMaster1.xml" Id="Ra750bc921f9d4da1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4aaa8170c4d343ce" /><Relationship Type="http://schemas.openxmlformats.org/officeDocument/2006/relationships/notesMaster" Target="/ppt/notesMasters/notesMaster1.xml" Id="R33516b5d82de4b28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03ae2707501a4f6d" /><Relationship Type="http://schemas.openxmlformats.org/officeDocument/2006/relationships/notesMaster" Target="/ppt/notesMasters/notesMaster1.xml" Id="Rf981c21db6384f42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KinVoice：先理解处境，再决定怎样回应</a:t>
            </a:r>
          </a:p>
          <a:p xmlns:a="http://schemas.openxmlformats.org/drawingml/2006/main">
            <a:r>
              <a:t>建议用时：30 秒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KinVoice 面向因亲子冲突感到困扰的 18–25 岁大学生。我们聚焦一个具体问题：同样是刚和父母吵完架，有人想理清思路，有人只想被听见，也有人需要先考虑安全。系统怎样据此改变支持方式？今天用一个虚构案例、一个可运行网站和一条可检查的技术路径回答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现场动作：封面停留；说明今天使用固定示例，后续模型接入状态会单独说明。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证据与边界：研究原型，当前内部演示只用虚构情境。不提供诊断或治疗；没有临床有效性结果。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项目范围：README.md；docs/STREAMING_DEMO_UPGRADE_2026-10-23.md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小林的故事：建议可能来得太早</a:t>
            </a:r>
          </a:p>
          <a:p xmlns:a="http://schemas.openxmlformats.org/drawingml/2006/main">
            <a:r>
              <a:t>建议用时：45 秒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假设小林 20 岁，父母希望她换专业。争吵刚结束，她说：我现在不想和解，也不要建议，只想有人听我说。如果系统马上替她写一段和解消息，就忽略了她此刻的意愿。我们把这个问题拆开：发生了什么，她现在想要什么，哪些回应需要被限制。小林的下一步，应当由小林决定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现场动作：讲完原话后停顿；用手势依次指向处境、意愿、边界。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证据与边界：小林是为讲解而构造的虚构人物，不能称为访谈对象、真实用户或成功个案。尚无需求规模或疗效数字。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虚构情境来源：本稿设计；网站内置示例：backend/app/ccare/web/site.js 的 cases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把选择和控制放进网站</a:t>
            </a:r>
          </a:p>
          <a:p xmlns:a="http://schemas.openxmlformats.org/drawingml/2006/main">
            <a:r>
              <a:t>建议用时：35 秒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这个网站给用户四种入口：先听我说、理清思绪、先缓一缓、准备表达。界面选择可以被本轮文字修正。右侧显示实际策略、原话依据和调用记录；处理过程中可以暂停，结束后可以清空。这张截图来自本机 v0.5，新增的技术记录导出会排除原话和生成回复，方便答辩留证。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现场动作：指向截图的“本轮允许：倾听”和技术记录导出按钮；稍后第 8 页再切浏览器操作。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证据与边界：截图为真实固定示例运行，无模型调用。技术面板不展示内部推理。左侧“导出本页对话”包含对话，右侧“导出技术记录（不含对话）”才是本次演示入口。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截图：KinVoice_升级版技术记录_2026-10-23.png，2026-10-23 本机运行</a:t>
            </a:r>
          </a:p>
          <a:p xmlns:a="http://schemas.openxmlformats.org/drawingml/2006/main">
            <a:r>
              <a:t>backend/app/ccare/web/site.js；session.mjs；report.mjs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用三个情境解释策略变化</a:t>
            </a:r>
          </a:p>
          <a:p xmlns:a="http://schemas.openxmlformats.org/drawingml/2006/main">
            <a:r>
              <a:t>建议用时：40 秒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当用户想理清专业选择，系统可以做澄清。界面同样选择准备表达，如果本轮明确拒绝建议，就保留倾听；如果出现家庭不安全线索，当前原型会限制沟通草稿并退回倾听。这里演示的是规则实际执行的结果。我们希望让评委看见：改变了哪个条件，系统就改变了哪一步决定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现场动作：只讲表格；不在此处逐个操作，把操作集中到第 8 页。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证据与边界：三例来自本地固定规则与模板，未执行远程状态估计与模型校验。家庭不安全时限制草稿是保守开发规则，仍需专业审阅。不能声称所有这类情境都只能倾听。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backend/app/ccare/web/site.js：cases；backend/app/ccare/policy.py：decide</a:t>
            </a:r>
          </a:p>
          <a:p xmlns:a="http://schemas.openxmlformats.org/drawingml/2006/main">
            <a:r>
              <a:t>docs/STREAMING_DEMO_UPGRADE_2026-10-23.md；docs/verification/2026-10-23-streaming/manifest.json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C-CARE 的决策路径</a:t>
            </a:r>
          </a:p>
          <a:p xmlns:a="http://schemas.openxmlformats.org/drawingml/2006/main">
            <a:r>
              <a:t>建议用时：55 秒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完整模型路径分四步。状态估计提取情绪、风险、家庭线索和当前意愿，并要求提供用户原话。确定性策略层先排除不合适的支持方式，再让生成器产生候选。候选通过规则和模型检查后才发布；未通过可重写一次，仍失败则使用固定退回文本。常规远程路径是三次模型调用，上限五次；紧急线索可以提前使用固定模板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现场动作：沿流程从左到右说明；强调选择策略发生在生成之前，最终发布发生在检查之后。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证据与边界：上述为已实现并经模拟接口测试的路径，真实连通尚未完成。原话匹配仅核对文本存在；状态与校验共用模型可能产生相关错误。模型自检不构成专业审查。正常 3 次/上限 5 次是设计与模拟验证，不是现场实测调用。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backend/app/ccare/engine.py；policy.py；schemas.py；provider.py</a:t>
            </a:r>
          </a:p>
          <a:p xmlns:a="http://schemas.openxmlformats.org/drawingml/2006/main">
            <a:r>
              <a:t>docs/CCARE_V2_TECHNICAL_POSITION.md；docs/STREAMING_DEMO_UPGRADE_2026-10-23.md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把创新主张写成可检验的问题</a:t>
            </a:r>
          </a:p>
          <a:p xmlns:a="http://schemas.openxmlformats.org/drawingml/2006/main">
            <a:r>
              <a:t>建议用时：50 秒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我们目前集中表达的候选贡献是：证据绑定的亲子冲突支持策略控制。原话能定位，方便检查判断出处；用户拒绝和家庭安全进入允许策略集合，方便执行约束；同一情境只改意愿或安全条件，方便检查策略变化。真正需要验证的是：在相同模型和公平预算下，这套机制能否减少不合适建议，同时保留回应的有用性。这个结论现在还没有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现场动作：把左、中两列称为机制设计，右列称为验证方法；不要把三列统称三项已证明的算法创新。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证据与边界：当前策略为确定性规则，没有训练新基础模型或策略优化器。策略、意图与情感安全已有相关研究；方法新颖性还需全文比较。原话存在不能证明语义正确。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docs/CCARE_V2_TECHNICAL_POSITION.md；data/development/policy_pairs_v1.json</a:t>
            </a:r>
          </a:p>
          <a:p xmlns:a="http://schemas.openxmlformats.org/drawingml/2006/main">
            <a:r>
              <a:t>相关工作与直达链接见第 11 页备注。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v0.5 新增功能：过程、暂停、记录</a:t>
            </a:r>
          </a:p>
          <a:p xmlns:a="http://schemas.openxmlformats.org/drawingml/2006/main">
            <a:r>
              <a:t>建议用时：35 秒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这版补上三项演示能力。后端发送真实阶段进度，让用户知道处理到哪一步；暂停后，后端检测断连并取消本地任务，不再启动后续步骤；技术记录导出保存策略、调用、耗时和失败信息，排除对话正文。候选文本不会提前流到聊天框。暂停不能撤回已经外发的数据，也不保证服务商停止计费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现场动作：逐项指向三列，明确这是工程完善。模型阶段与后端中止目前已通过本机模拟服务验证。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证据与边界：分阶段事件流并非逐字输出候选。取消为协作式任务取消，不能保证上游远程计算立即停止。固定模式的一秒演示节奏不能证明后端模型任务取消。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backend/app/ccare/streaming.py；engine.py；web/stream.mjs；web/report.mjs</a:t>
            </a:r>
          </a:p>
          <a:p xmlns:a="http://schemas.openxmlformats.org/drawingml/2006/main">
            <a:r>
              <a:t>backend/tests/test_streaming.py；tests/web-stream.test.mjs</a:t>
            </a:r>
          </a:p>
          <a:p xmlns:a="http://schemas.openxmlformats.org/drawingml/2006/main">
            <a:r>
              <a:t>docs/verification/2026-10-23-streaming/manifest.json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90 秒现场演示</a:t>
            </a:r>
          </a:p>
          <a:p xmlns:a="http://schemas.openxmlformats.org/drawingml/2006/main">
            <a:r>
              <a:t>建议用时：90 秒，已含切换浏览器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现在看一轮实际操作。这里明确标记为固定示例、没有模型调用。选择“我现在只想有人听我说”，界面预设为准备表达，但本轮文字拒绝建议。发送后看右侧：实际策略是倾听，原话与允许策略可检查。清空，再换成家庭不安全案例，草稿受到限制。把技术记录导出，可以核对本轮策略和零模型调用，文件里没有对话原文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现场动作：开场前在 http://127.0.0.1:8768/ 登录本地演示账号并清空。0–20 秒选择拒绝案例；20–45 秒确认虚构情境、发送、打开技术讲解；45–70 秒清空并发送不安全案例；70–90 秒滚动技术面板至底部，点“导出技术记录（不含对话）”，返回 PPT。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证据与边界：本流程只证明固定规则与界面行为。真实模型进度和后端暂停放在新密钥接入并完成连通验证之后；当前不演成真实模型调用。登录准备不计入 90 秒；按电脑速度留切换余量。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backend/app/ccare/web/site.js：cases、updateTrace、export-technical</a:t>
            </a:r>
          </a:p>
          <a:p xmlns:a="http://schemas.openxmlformats.org/drawingml/2006/main">
            <a:r>
              <a:t>scripts/Start-Demo.ps1 -Port 8768；docs/STREAMING_DEMO_UPGRADE_2026-10-23.md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哪些证据已经有，哪些还没有</a:t>
            </a:r>
          </a:p>
          <a:p xmlns:a="http://schemas.openxmlformats.org/drawingml/2006/main">
            <a:r>
              <a:t>建议用时：40 秒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目前有 59 项后端离线测试和 15 项前端测试通过；浏览器也核对了进度、暂停和记录下载，其中模型阶段使用本机模拟服务。真实外部模型调用仍为零。历史开发诊断保留了 20 条中的两条不匹配，以及八对案例两端匹配记录。这些案例参与过实现，不能当独立测试。真实模型对照、消融、专业审阅和真人研究，仍是接下来的工作。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现场动作：先指工程数字，再指真实调用为零；不要把测试通过数换成准确率或有效率。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证据与边界：v0.5 实现提交 15535e56f6a71732320961e41145a61384debb9a；核验记录提交 dad3eb3。历史诊断对应旧实现 b0f96c8，dev14 否定表达、dev15 课程转述仍误报。本轮未重跑旧诊断。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docs/verification/2026-10-23-streaming/manifest.json</a:t>
            </a:r>
          </a:p>
          <a:p xmlns:a="http://schemas.openxmlformats.org/drawingml/2006/main">
            <a:r>
              <a:t>experiments/policy-pairs-20261023T135855Z-c30a35bf</a:t>
            </a:r>
          </a:p>
          <a:p xmlns:a="http://schemas.openxmlformats.org/drawingml/2006/main">
            <a:r>
              <a:t>experiments/20261023T135855Z-bff092b1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回到小林：保留她的选择</a:t>
            </a:r>
          </a:p>
          <a:p xmlns:a="http://schemas.openxmlformats.org/drawingml/2006/main">
            <a:r>
              <a:t>建议用时：35 秒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回到小林，项目希望做到的，是她说只想倾诉时能被听见，说暂时不想联系父母时不被推着联系。现在，网站能展示这些判断怎样发生。下一步接入新密钥，请专业老师审阅策略与标签，再用强基线和消融检查收益与代价。我们希望把“回应得合适”，变成一个能检验的技术问题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现场动作：在这页结束主讲。第 11、12 页只在相关追问时使用。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证据与边界：专业合作仍在寻找中，尚未确认专业审阅完成。赛事报名、2026 当届官方规则和正式提交要求未在本稿重新核实；这是内部答辩演示稿，不承诺获奖或已达参赛条件。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docs/STREAMING_DEMO_UPGRADE_2026-10-23.md；docs/CCARE_V2_TECHNICAL_POSITION.md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备答：与已有工作如何区分</a:t>
            </a:r>
          </a:p>
          <a:p xmlns:a="http://schemas.openxmlformats.org/drawingml/2006/main">
            <a:r>
              <a:t>建议用时：被问到时 45–60 秒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EmoDynamiX 已经分离策略预测和生成，IntentionESC 已经研究情绪、意图与策略的联系，AHaBench 已经评估情感边界和过度依赖风险。因此我们不把显式策略层或关注自主权单独称为首创。KinVoice 要进一步证明的是：在亲子冲突中，把原话出处、本轮拒绝与家庭安全绑定到确定性策略约束，能否在公平预算下带来额外收益。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现场动作：根据追问只讲相应一行，不把备答表完整重念。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证据与边界：2026-10-23 核对官方摘要与书目信息；没有据摘要复述性能数字，未据全文完成新颖性判定。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EmoDynamiX，NAACL 2025：https://aclanthology.org/2025.naacl-long.81/</a:t>
            </a:r>
          </a:p>
          <a:p xmlns:a="http://schemas.openxmlformats.org/drawingml/2006/main">
            <a:r>
              <a:t>IntentionESC，Findings ACL 2025：https://aclanthology.org/2025.findings-acl.1358/</a:t>
            </a:r>
          </a:p>
          <a:p xmlns:a="http://schemas.openxmlformats.org/drawingml/2006/main">
            <a:r>
              <a:t>AHaBench，Findings EACL 2026：https://aclanthology.org/2026.findings-eacl.4/</a:t>
            </a:r>
          </a:p>
          <a:p xmlns:a="http://schemas.openxmlformats.org/drawingml/2006/main">
            <a:r>
              <a:t>完整书目：docs/research/2026-10-23-ccare-v2/refs.bib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备答：如何证明机制有价值</a:t>
            </a:r>
          </a:p>
          <a:p xmlns:a="http://schemas.openxmlformats.org/drawingml/2006/main">
            <a:r>
              <a:t>建议用时：被问到时 60 秒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正式比较包括强提示词单调用基线、预算对齐的多步基线、完整 C-CARE，以及移除意愿约束、家庭约束、原话校验等模块的消融。使用同一冻结输入、同一基础模型，记录实际调用、token、耗时和失败。数据按母案例分割，由专业人员审阅标签，双人盲评并处理分歧。约束违反、有用性、危险遗漏和过度拒答一起报告，避免只讲成功例子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现场动作：按比较条件、评价指标、数据来源回答；明确实验尚未执行，不展示预填结果。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证据与边界：专业评审、数据授权和必要伦理条件确定后再做真人研究。开发集不能替代冻结测试集；文本质量评测不能推出临床效果。模型可更新别名影响复现，应记录返回模型名与时间窗口。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docs/CCARE_V2_TECHNICAL_POSITION.md：后续实验协议</a:t>
            </a:r>
          </a:p>
          <a:p xmlns:a="http://schemas.openxmlformats.org/drawingml/2006/main">
            <a:r>
              <a:t>data/development/policy_pairs_v1.json 仅为开发集；正式数据尚未冻结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516fa29b61d4497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a72b091ba4643f1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73bff23e5c24745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9101c06fa224611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0504d88987e4e40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0f92bd28c064025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F27963F5-29DA-467B-A4DA-709DE4543AC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8548DBB7-99B6-4267-A43E-6A994E6CC9FC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F71EE169-9073-433E-BFFE-CED8875CFA3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453E0CC7-5230-420D-A6D7-C036BB154CA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4CE23A0A-6370-48F1-8A1F-5489EC1F65EF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B58F834C-2046-428A-AAC2-49AC6B2C4AE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9F63473F-6C6A-4F61-A62C-1D0A808C81FF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BEF28DEF-B871-46C7-B5CA-12498049E594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708AF625-38EE-4EAE-BB0F-542A4EFB289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182F2682-7D84-426D-9373-D98E6B884AFE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a6693c185d0e4d55" /><Relationship Type="http://schemas.openxmlformats.org/officeDocument/2006/relationships/slideLayout" Target="/ppt/slideLayouts/slideLayout1.xml" Id="R794b123eaa164933" /><Relationship Type="http://schemas.openxmlformats.org/officeDocument/2006/relationships/slideLayout" Target="/ppt/slideLayouts/slideLayout2.xml" Id="R0da742b4179d442c" /><Relationship Type="http://schemas.openxmlformats.org/officeDocument/2006/relationships/slideLayout" Target="/ppt/slideLayouts/slideLayout3.xml" Id="Ra0417ff96a444f02" /><Relationship Type="http://schemas.openxmlformats.org/officeDocument/2006/relationships/slideLayout" Target="/ppt/slideLayouts/slideLayout4.xml" Id="Re9b3325154e6428d" /><Relationship Type="http://schemas.openxmlformats.org/officeDocument/2006/relationships/slideLayout" Target="/ppt/slideLayouts/slideLayout5.xml" Id="Rb82fcb3afd254085" /><Relationship Type="http://schemas.openxmlformats.org/officeDocument/2006/relationships/slideLayout" Target="/ppt/slideLayouts/slideLayout6.xml" Id="Rd311c297bcc94c00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794b123eaa164933"/>
    <p:sldLayoutId xmlns:r="http://schemas.openxmlformats.org/officeDocument/2006/relationships" id="2147483650" r:id="R0da742b4179d442c"/>
    <p:sldLayoutId xmlns:r="http://schemas.openxmlformats.org/officeDocument/2006/relationships" id="2147483651" r:id="Ra0417ff96a444f02"/>
    <p:sldLayoutId xmlns:r="http://schemas.openxmlformats.org/officeDocument/2006/relationships" id="2147483652" r:id="Re9b3325154e6428d"/>
    <p:sldLayoutId xmlns:r="http://schemas.openxmlformats.org/officeDocument/2006/relationships" id="2147483653" r:id="Rb82fcb3afd254085"/>
    <p:sldLayoutId xmlns:r="http://schemas.openxmlformats.org/officeDocument/2006/relationships" id="2147483654" r:id="Rd311c297bcc94c00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96f0bf27a494e67" /><Relationship Type="http://schemas.openxmlformats.org/officeDocument/2006/relationships/notesSlide" Target="/ppt/notesSlides/notesSlide1.xml" Id="Re35bad5923304e8b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1d686f225ce4d6b" /><Relationship Type="http://schemas.openxmlformats.org/officeDocument/2006/relationships/notesSlide" Target="/ppt/notesSlides/notesSlide2.xml" Id="Rad5257020f7947d3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8f28a529b134978" /><Relationship Type="http://schemas.openxmlformats.org/officeDocument/2006/relationships/image" Target="/ppt/media/image.jpeg" Id="Rbd449f3f74d541a9" /><Relationship Type="http://schemas.openxmlformats.org/officeDocument/2006/relationships/notesSlide" Target="/ppt/notesSlides/notesSlide3.xml" Id="Rc377980463c74b51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af763f376bd4e6d" /><Relationship Type="http://schemas.openxmlformats.org/officeDocument/2006/relationships/notesSlide" Target="/ppt/notesSlides/notesSlide4.xml" Id="R68ad54a949ba4403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ee7c9980dbe46b9" /><Relationship Type="http://schemas.openxmlformats.org/officeDocument/2006/relationships/notesSlide" Target="/ppt/notesSlides/notesSlide5.xml" Id="Ra60eb3572d464509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057a84b06394c63" /><Relationship Type="http://schemas.openxmlformats.org/officeDocument/2006/relationships/notesSlide" Target="/ppt/notesSlides/notesSlide6.xml" Id="R731e245da377484a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75708a98d2d4f36" /><Relationship Type="http://schemas.openxmlformats.org/officeDocument/2006/relationships/notesSlide" Target="/ppt/notesSlides/notesSlide7.xml" Id="Re72e37ca968a487c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7bff71e0a134e24" /><Relationship Type="http://schemas.openxmlformats.org/officeDocument/2006/relationships/notesSlide" Target="/ppt/notesSlides/notesSlide8.xml" Id="R678a1fca7be24fc1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1071daac9484b39" /><Relationship Type="http://schemas.openxmlformats.org/officeDocument/2006/relationships/notesSlide" Target="/ppt/notesSlides/notesSlide9.xml" Id="R189618b42cb3456f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d60713582664b94" /><Relationship Type="http://schemas.openxmlformats.org/officeDocument/2006/relationships/notesSlide" Target="/ppt/notesSlides/notesSlide10.xml" Id="R1459faa641e14c44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fcd9e4527c94d41" /><Relationship Type="http://schemas.openxmlformats.org/officeDocument/2006/relationships/notesSlide" Target="/ppt/notesSlides/notesSlide11.xml" Id="Rcb972fcb592d47ff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9676f2b3e4e4584" /><Relationship Type="http://schemas.openxmlformats.org/officeDocument/2006/relationships/notesSlide" Target="/ppt/notesSlides/notesSlide12.xml" Id="Rdb106dae4fec4471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315C4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面向 18–25 岁大学生的亲子冲突情绪支持原型">
            <a:extLst xmlns:a="http://schemas.openxmlformats.org/drawingml/2006/main">
              <a:ext uri="{FF2B5EF4-FFF2-40B4-BE49-F238E27FC236}">
                <a16:creationId xmlns:a16="http://schemas.microsoft.com/office/drawing/2014/main" id="{009D8F32-87C2-419F-8D56-A8F3ED78BA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3875"/>
            <a:ext cx="109347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950" b="0">
                <a:solidFill>
                  <a:srgbClr val="D5E0D4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buNone/>
              <a:defRPr sz="1950" b="0">
                <a:solidFill>
                  <a:srgbClr val="D5E0D4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buNone/>
              <a:defRPr sz="1950" b="0">
                <a:solidFill>
                  <a:srgbClr val="D5E0D4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buNone/>
              <a:defRPr sz="1950" b="0">
                <a:solidFill>
                  <a:srgbClr val="D5E0D4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buNone/>
              <a:defRPr sz="1950" b="0">
                <a:solidFill>
                  <a:srgbClr val="D5E0D4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buNone/>
              <a:defRPr sz="1950" b="0">
                <a:solidFill>
                  <a:srgbClr val="D5E0D4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buNone/>
              <a:defRPr sz="1950" b="0">
                <a:solidFill>
                  <a:srgbClr val="D5E0D4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buNone/>
              <a:defRPr sz="1950" b="0">
                <a:solidFill>
                  <a:srgbClr val="D5E0D4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buNone/>
              <a:defRPr sz="1950" b="0">
                <a:solidFill>
                  <a:srgbClr val="D5E0D4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buNone/>
              <a:defRPr sz="1950" b="0">
                <a:solidFill>
                  <a:srgbClr val="D5E0D4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buNone/>
              <a:defRPr sz="1950" b="0">
                <a:solidFill>
                  <a:srgbClr val="D5E0D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D5E0D4"/>
                </a:solidFill>
                <a:latin typeface="Microsoft YaHei"/>
                <a:ea typeface="Microsoft YaHei"/>
                <a:cs typeface="Microsoft YaHei"/>
              </a:rPr>
              <a:t>面向 18–25 岁大学生的亲子冲突情绪支持原型</a:t>
            </a:r>
          </a:p>
        </p:txBody>
      </p:sp>
      <p:sp>
        <p:nvSpPr>
          <p:cNvPr id="2" name="KinVoice">
            <a:extLst xmlns:a="http://schemas.openxmlformats.org/drawingml/2006/main">
              <a:ext uri="{FF2B5EF4-FFF2-40B4-BE49-F238E27FC236}">
                <a16:creationId xmlns:a16="http://schemas.microsoft.com/office/drawing/2014/main" id="{325EDB5C-CD6D-42F0-B718-ACB1F444C5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" y="1714500"/>
            <a:ext cx="110490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8400" b="1">
                <a:solidFill>
                  <a:srgbClr val="F7F6F0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buNone/>
              <a:defRPr sz="8400" b="1">
                <a:solidFill>
                  <a:srgbClr val="F7F6F0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buNone/>
              <a:defRPr sz="8400" b="1">
                <a:solidFill>
                  <a:srgbClr val="F7F6F0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buNone/>
              <a:defRPr sz="8400" b="1">
                <a:solidFill>
                  <a:srgbClr val="F7F6F0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buNone/>
              <a:defRPr sz="8400" b="1">
                <a:solidFill>
                  <a:srgbClr val="F7F6F0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buNone/>
              <a:defRPr sz="8400" b="1">
                <a:solidFill>
                  <a:srgbClr val="F7F6F0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buNone/>
              <a:defRPr sz="8400" b="1">
                <a:solidFill>
                  <a:srgbClr val="F7F6F0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buNone/>
              <a:defRPr sz="8400" b="1">
                <a:solidFill>
                  <a:srgbClr val="F7F6F0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buNone/>
              <a:defRPr sz="8400" b="1">
                <a:solidFill>
                  <a:srgbClr val="F7F6F0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buNone/>
              <a:defRPr sz="8400" b="1">
                <a:solidFill>
                  <a:srgbClr val="F7F6F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buNone/>
              <a:defRPr sz="8400" b="1">
                <a:solidFill>
                  <a:srgbClr val="F7F6F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400" b="1">
                <a:solidFill>
                  <a:srgbClr val="F7F6F0"/>
                </a:solidFill>
                <a:latin typeface="Microsoft YaHei"/>
                <a:ea typeface="Microsoft YaHei"/>
                <a:cs typeface="Microsoft YaHei"/>
              </a:rPr>
              <a:t>KinVoice</a:t>
            </a:r>
          </a:p>
        </p:txBody>
      </p:sp>
      <p:sp>
        <p:nvSpPr>
          <p:cNvPr id="3" name="先理解处境，&#10;再决定怎样回应。">
            <a:extLst xmlns:a="http://schemas.openxmlformats.org/drawingml/2006/main">
              <a:ext uri="{FF2B5EF4-FFF2-40B4-BE49-F238E27FC236}">
                <a16:creationId xmlns:a16="http://schemas.microsoft.com/office/drawing/2014/main" id="{6B7AF9D2-A9DC-4217-BB42-68654A617D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57575"/>
            <a:ext cx="10810875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900" b="1">
                <a:solidFill>
                  <a:srgbClr val="F7F6F0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buNone/>
              <a:defRPr sz="3900" b="1">
                <a:solidFill>
                  <a:srgbClr val="F7F6F0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buNone/>
              <a:defRPr sz="3900" b="1">
                <a:solidFill>
                  <a:srgbClr val="F7F6F0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buNone/>
              <a:defRPr sz="3900" b="1">
                <a:solidFill>
                  <a:srgbClr val="F7F6F0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buNone/>
              <a:defRPr sz="3900" b="1">
                <a:solidFill>
                  <a:srgbClr val="F7F6F0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buNone/>
              <a:defRPr sz="3900" b="1">
                <a:solidFill>
                  <a:srgbClr val="F7F6F0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buNone/>
              <a:defRPr sz="3900" b="1">
                <a:solidFill>
                  <a:srgbClr val="F7F6F0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buNone/>
              <a:defRPr sz="3900" b="1">
                <a:solidFill>
                  <a:srgbClr val="F7F6F0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buNone/>
              <a:defRPr sz="3900" b="1">
                <a:solidFill>
                  <a:srgbClr val="F7F6F0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buNone/>
              <a:defRPr sz="3900" b="1">
                <a:solidFill>
                  <a:srgbClr val="F7F6F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buNone/>
              <a:defRPr sz="3900" b="1">
                <a:solidFill>
                  <a:srgbClr val="F7F6F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900" b="1">
                <a:solidFill>
                  <a:srgbClr val="F7F6F0"/>
                </a:solidFill>
                <a:latin typeface="Microsoft YaHei"/>
                <a:ea typeface="Microsoft YaHei"/>
                <a:cs typeface="Microsoft YaHei"/>
              </a:rPr>
              <a:t>先理解处境，</a:t>
            </a:r>
          </a:p>
          <a:p xmlns:a="http://schemas.openxmlformats.org/drawingml/2006/main">
            <a:pPr>
              <a:buNone/>
              <a:defRPr sz="3900" b="1">
                <a:solidFill>
                  <a:srgbClr val="F7F6F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900" b="1">
                <a:solidFill>
                  <a:srgbClr val="F7F6F0"/>
                </a:solidFill>
                <a:latin typeface="Microsoft YaHei"/>
                <a:ea typeface="Microsoft YaHei"/>
                <a:cs typeface="Microsoft YaHei"/>
              </a:rPr>
              <a:t>再决定怎样回应。</a:t>
            </a:r>
          </a:p>
        </p:txBody>
      </p:sp>
      <p:sp>
        <p:nvSpPr>
          <p:cNvPr id="4" name="C-CARE  /  冲突情境感知与约束式自适应回应引擎">
            <a:extLst xmlns:a="http://schemas.openxmlformats.org/drawingml/2006/main">
              <a:ext uri="{FF2B5EF4-FFF2-40B4-BE49-F238E27FC236}">
                <a16:creationId xmlns:a16="http://schemas.microsoft.com/office/drawing/2014/main" id="{1E552187-8AFD-4442-B8D7-2BD7ACE0CF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457825"/>
            <a:ext cx="10953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025" b="0">
                <a:solidFill>
                  <a:srgbClr val="D5E0D4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buNone/>
              <a:defRPr sz="2025" b="0">
                <a:solidFill>
                  <a:srgbClr val="D5E0D4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buNone/>
              <a:defRPr sz="2025" b="0">
                <a:solidFill>
                  <a:srgbClr val="D5E0D4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buNone/>
              <a:defRPr sz="2025" b="0">
                <a:solidFill>
                  <a:srgbClr val="D5E0D4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buNone/>
              <a:defRPr sz="2025" b="0">
                <a:solidFill>
                  <a:srgbClr val="D5E0D4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buNone/>
              <a:defRPr sz="2025" b="0">
                <a:solidFill>
                  <a:srgbClr val="D5E0D4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buNone/>
              <a:defRPr sz="2025" b="0">
                <a:solidFill>
                  <a:srgbClr val="D5E0D4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buNone/>
              <a:defRPr sz="2025" b="0">
                <a:solidFill>
                  <a:srgbClr val="D5E0D4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buNone/>
              <a:defRPr sz="2025" b="0">
                <a:solidFill>
                  <a:srgbClr val="D5E0D4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buNone/>
              <a:defRPr sz="2025" b="0">
                <a:solidFill>
                  <a:srgbClr val="D5E0D4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buNone/>
              <a:defRPr sz="2025" b="0">
                <a:solidFill>
                  <a:srgbClr val="D5E0D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D5E0D4"/>
                </a:solidFill>
                <a:latin typeface="Microsoft YaHei"/>
                <a:ea typeface="Microsoft YaHei"/>
                <a:cs typeface="Microsoft YaHei"/>
              </a:rPr>
              <a:t>C-CARE  /  冲突情境感知与约束式自适应回应引擎</a:t>
            </a:r>
          </a:p>
        </p:txBody>
      </p:sp>
      <p:sp>
        <p:nvSpPr>
          <p:cNvPr id="5" name="研究原型 · 本次为固定示例演示 · 模型效果与专业审阅">
            <a:extLst xmlns:a="http://schemas.openxmlformats.org/drawingml/2006/main">
              <a:ext uri="{FF2B5EF4-FFF2-40B4-BE49-F238E27FC236}">
                <a16:creationId xmlns:a16="http://schemas.microsoft.com/office/drawing/2014/main" id="{2CE9AA31-7B4B-471F-81AC-EC766E60B3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76975"/>
            <a:ext cx="109537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D5E0D4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buNone/>
              <a:defRPr sz="1650" b="0">
                <a:solidFill>
                  <a:srgbClr val="D5E0D4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buNone/>
              <a:defRPr sz="1650" b="0">
                <a:solidFill>
                  <a:srgbClr val="D5E0D4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buNone/>
              <a:defRPr sz="1650" b="0">
                <a:solidFill>
                  <a:srgbClr val="D5E0D4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buNone/>
              <a:defRPr sz="1650" b="0">
                <a:solidFill>
                  <a:srgbClr val="D5E0D4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buNone/>
              <a:defRPr sz="1650" b="0">
                <a:solidFill>
                  <a:srgbClr val="D5E0D4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buNone/>
              <a:defRPr sz="1650" b="0">
                <a:solidFill>
                  <a:srgbClr val="D5E0D4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buNone/>
              <a:defRPr sz="1650" b="0">
                <a:solidFill>
                  <a:srgbClr val="D5E0D4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buNone/>
              <a:defRPr sz="1650" b="0">
                <a:solidFill>
                  <a:srgbClr val="D5E0D4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buNone/>
              <a:defRPr sz="1650" b="0">
                <a:solidFill>
                  <a:srgbClr val="D5E0D4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buNone/>
              <a:defRPr sz="1650" b="0">
                <a:solidFill>
                  <a:srgbClr val="D5E0D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D5E0D4"/>
                </a:solidFill>
                <a:latin typeface="Microsoft YaHei"/>
                <a:ea typeface="Microsoft YaHei"/>
                <a:cs typeface="Microsoft YaHei"/>
              </a:rPr>
              <a:t>v0.5 研究原型 · 固定示例演示 · 模型效果与专业审阅待验证</a:t>
            </a:r>
          </a:p>
        </p:txBody>
      </p:sp>
    </p:spTree>
    <p:extLst>
      <p:ext uri="{BB962C8B-B14F-4D97-AF65-F5344CB8AC3E}">
        <p14:creationId xmlns:p14="http://schemas.microsoft.com/office/powerpoint/2010/main" val="809241369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7F6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01  /  问题切入">
            <a:extLst xmlns:a="http://schemas.openxmlformats.org/drawingml/2006/main">
              <a:ext uri="{FF2B5EF4-FFF2-40B4-BE49-F238E27FC236}">
                <a16:creationId xmlns:a16="http://schemas.microsoft.com/office/drawing/2014/main" id="{34B7D2E8-7587-4FFE-AECF-B77B389F68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9525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650" b="1">
                <a:solidFill>
                  <a:srgbClr val="315C4D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buNone/>
              <a:defRPr sz="1650" b="1">
                <a:solidFill>
                  <a:srgbClr val="315C4D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buNone/>
              <a:defRPr sz="1650" b="1">
                <a:solidFill>
                  <a:srgbClr val="315C4D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buNone/>
              <a:defRPr sz="1650" b="1">
                <a:solidFill>
                  <a:srgbClr val="315C4D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buNone/>
              <a:defRPr sz="1650" b="1">
                <a:solidFill>
                  <a:srgbClr val="315C4D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buNone/>
              <a:defRPr sz="1650" b="1">
                <a:solidFill>
                  <a:srgbClr val="315C4D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buNone/>
              <a:defRPr sz="1650" b="1">
                <a:solidFill>
                  <a:srgbClr val="315C4D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buNone/>
              <a:defRPr sz="1650" b="1">
                <a:solidFill>
                  <a:srgbClr val="315C4D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buNone/>
              <a:defRPr sz="1650" b="1">
                <a:solidFill>
                  <a:srgbClr val="315C4D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buNone/>
              <a:defRPr sz="1650" b="1">
                <a:solidFill>
                  <a:srgbClr val="315C4D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buNone/>
              <a:defRPr sz="1650" b="1">
                <a:solidFill>
                  <a:srgbClr val="315C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315C4D"/>
                </a:solidFill>
                <a:latin typeface="Microsoft YaHei"/>
                <a:ea typeface="Microsoft YaHei"/>
                <a:cs typeface="Microsoft YaHei"/>
              </a:rPr>
              <a:t>01  /  从小林的一次冲突开始</a:t>
            </a:r>
          </a:p>
        </p:txBody>
      </p:sp>
      <p:sp>
        <p:nvSpPr>
          <p:cNvPr id="2" name="一句“你应该和父母谈谈”，可能来得太早。">
            <a:extLst xmlns:a="http://schemas.openxmlformats.org/drawingml/2006/main">
              <a:ext uri="{FF2B5EF4-FFF2-40B4-BE49-F238E27FC236}">
                <a16:creationId xmlns:a16="http://schemas.microsoft.com/office/drawing/2014/main" id="{B088830B-DDA0-4AD4-A284-C070A68A5A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47725"/>
            <a:ext cx="11049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300" b="1">
                <a:solidFill>
                  <a:srgbClr val="263B32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buNone/>
              <a:defRPr sz="3300" b="1">
                <a:solidFill>
                  <a:srgbClr val="263B32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buNone/>
              <a:defRPr sz="3300" b="1">
                <a:solidFill>
                  <a:srgbClr val="263B32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buNone/>
              <a:defRPr sz="3300" b="1">
                <a:solidFill>
                  <a:srgbClr val="263B32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buNone/>
              <a:defRPr sz="3300" b="1">
                <a:solidFill>
                  <a:srgbClr val="263B32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buNone/>
              <a:defRPr sz="3300" b="1">
                <a:solidFill>
                  <a:srgbClr val="263B32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buNone/>
              <a:defRPr sz="3300" b="1">
                <a:solidFill>
                  <a:srgbClr val="263B32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buNone/>
              <a:defRPr sz="3300" b="1">
                <a:solidFill>
                  <a:srgbClr val="263B32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buNone/>
              <a:defRPr sz="3300" b="1">
                <a:solidFill>
                  <a:srgbClr val="263B32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buNone/>
              <a:defRPr sz="3300" b="1">
                <a:solidFill>
                  <a:srgbClr val="263B32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buNone/>
              <a:defRPr sz="3300" b="1">
                <a:solidFill>
                  <a:srgbClr val="263B3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263B32"/>
                </a:solidFill>
                <a:latin typeface="Microsoft YaHei"/>
                <a:ea typeface="Microsoft YaHei"/>
                <a:cs typeface="Microsoft YaHei"/>
              </a:rPr>
              <a:t>一句“你应该和父母谈谈”，可能来得太早。</a:t>
            </a:r>
          </a:p>
        </p:txBody>
      </p:sp>
      <p:sp>
        <p:nvSpPr>
          <p:cNvPr id="3" name="设计情境：虚构大学生案例，不代表已完成的用户调研。">
            <a:extLst xmlns:a="http://schemas.openxmlformats.org/drawingml/2006/main">
              <a:ext uri="{FF2B5EF4-FFF2-40B4-BE49-F238E27FC236}">
                <a16:creationId xmlns:a16="http://schemas.microsoft.com/office/drawing/2014/main" id="{E3F7856B-7A8B-4169-96BA-98F14455E6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28775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950" b="0">
                <a:solidFill>
                  <a:srgbClr val="637368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buNone/>
              <a:defRPr sz="1950" b="0">
                <a:solidFill>
                  <a:srgbClr val="637368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buNone/>
              <a:defRPr sz="1950" b="0">
                <a:solidFill>
                  <a:srgbClr val="637368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buNone/>
              <a:defRPr sz="1950" b="0">
                <a:solidFill>
                  <a:srgbClr val="637368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buNone/>
              <a:defRPr sz="1950" b="0">
                <a:solidFill>
                  <a:srgbClr val="637368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buNone/>
              <a:defRPr sz="1950" b="0">
                <a:solidFill>
                  <a:srgbClr val="637368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buNone/>
              <a:defRPr sz="1950" b="0">
                <a:solidFill>
                  <a:srgbClr val="637368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buNone/>
              <a:defRPr sz="1950" b="0">
                <a:solidFill>
                  <a:srgbClr val="637368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buNone/>
              <a:defRPr sz="1950" b="0">
                <a:solidFill>
                  <a:srgbClr val="637368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buNone/>
              <a:defRPr sz="1950" b="0">
                <a:solidFill>
                  <a:srgbClr val="63736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buNone/>
              <a:defRPr sz="1950" b="0">
                <a:solidFill>
                  <a:srgbClr val="6373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637368"/>
                </a:solidFill>
                <a:latin typeface="Microsoft YaHei"/>
                <a:ea typeface="Microsoft YaHei"/>
                <a:cs typeface="Microsoft YaHei"/>
              </a:rPr>
              <a:t>小林，20 岁。父母要求换专业；刚吵完架的她，此刻只想被听见。</a:t>
            </a:r>
          </a:p>
        </p:txBody>
      </p:sp>
      <p:sp>
        <p:nvSpPr>
          <p:cNvPr id="4" name="KinVoice  /  内部答辩演示 · 2026.1">
            <a:extLst xmlns:a="http://schemas.openxmlformats.org/drawingml/2006/main">
              <a:ext uri="{FF2B5EF4-FFF2-40B4-BE49-F238E27FC236}">
                <a16:creationId xmlns:a16="http://schemas.microsoft.com/office/drawing/2014/main" id="{EB935102-AA6D-4083-94B5-327B7E4AE5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48425"/>
            <a:ext cx="9620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350" b="0">
                <a:solidFill>
                  <a:srgbClr val="637368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buNone/>
              <a:defRPr sz="1350" b="0">
                <a:solidFill>
                  <a:srgbClr val="637368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buNone/>
              <a:defRPr sz="1350" b="0">
                <a:solidFill>
                  <a:srgbClr val="637368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buNone/>
              <a:defRPr sz="1350" b="0">
                <a:solidFill>
                  <a:srgbClr val="637368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buNone/>
              <a:defRPr sz="1350" b="0">
                <a:solidFill>
                  <a:srgbClr val="637368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buNone/>
              <a:defRPr sz="1350" b="0">
                <a:solidFill>
                  <a:srgbClr val="637368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buNone/>
              <a:defRPr sz="1350" b="0">
                <a:solidFill>
                  <a:srgbClr val="637368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buNone/>
              <a:defRPr sz="1350" b="0">
                <a:solidFill>
                  <a:srgbClr val="637368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buNone/>
              <a:defRPr sz="1350" b="0">
                <a:solidFill>
                  <a:srgbClr val="637368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buNone/>
              <a:defRPr sz="1350" b="0">
                <a:solidFill>
                  <a:srgbClr val="63736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buNone/>
              <a:defRPr sz="1350" b="0">
                <a:solidFill>
                  <a:srgbClr val="6373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37368"/>
                </a:solidFill>
                <a:latin typeface="Microsoft YaHei"/>
                <a:ea typeface="Microsoft YaHei"/>
                <a:cs typeface="Microsoft YaHei"/>
              </a:rPr>
              <a:t>KinVoice  /  内部答辩演示 · v0.5 · 2026.10</a:t>
            </a:r>
          </a:p>
        </p:txBody>
      </p:sp>
      <p:sp>
        <p:nvSpPr>
          <p:cNvPr id="5" name="02">
            <a:extLst xmlns:a="http://schemas.openxmlformats.org/drawingml/2006/main">
              <a:ext uri="{FF2B5EF4-FFF2-40B4-BE49-F238E27FC236}">
                <a16:creationId xmlns:a16="http://schemas.microsoft.com/office/drawing/2014/main" id="{8CAB6C12-7A51-47B7-8991-7B1B99332F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77575" y="6419850"/>
            <a:ext cx="5048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500" b="1">
                <a:solidFill>
                  <a:srgbClr val="315C4D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buNone/>
              <a:defRPr sz="1500" b="1">
                <a:solidFill>
                  <a:srgbClr val="315C4D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buNone/>
              <a:defRPr sz="1500" b="1">
                <a:solidFill>
                  <a:srgbClr val="315C4D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buNone/>
              <a:defRPr sz="1500" b="1">
                <a:solidFill>
                  <a:srgbClr val="315C4D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buNone/>
              <a:defRPr sz="1500" b="1">
                <a:solidFill>
                  <a:srgbClr val="315C4D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buNone/>
              <a:defRPr sz="1500" b="1">
                <a:solidFill>
                  <a:srgbClr val="315C4D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buNone/>
              <a:defRPr sz="1500" b="1">
                <a:solidFill>
                  <a:srgbClr val="315C4D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buNone/>
              <a:defRPr sz="1500" b="1">
                <a:solidFill>
                  <a:srgbClr val="315C4D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buNone/>
              <a:defRPr sz="1500" b="1">
                <a:solidFill>
                  <a:srgbClr val="315C4D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buNone/>
              <a:defRPr sz="1500" b="1">
                <a:solidFill>
                  <a:srgbClr val="315C4D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buNone/>
              <a:defRPr sz="1500" b="1">
                <a:solidFill>
                  <a:srgbClr val="315C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315C4D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6" name="“我现在不想和解，&#10;也不要建议，我只想有人听我说。”">
            <a:extLst xmlns:a="http://schemas.openxmlformats.org/drawingml/2006/main">
              <a:ext uri="{FF2B5EF4-FFF2-40B4-BE49-F238E27FC236}">
                <a16:creationId xmlns:a16="http://schemas.microsoft.com/office/drawing/2014/main" id="{4456EF0E-0AED-4CA0-B4FD-2968368EF0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66975"/>
            <a:ext cx="10668000" cy="1352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300" b="1">
                <a:solidFill>
                  <a:srgbClr val="315C4D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buNone/>
              <a:defRPr sz="3300" b="1">
                <a:solidFill>
                  <a:srgbClr val="315C4D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buNone/>
              <a:defRPr sz="3300" b="1">
                <a:solidFill>
                  <a:srgbClr val="315C4D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buNone/>
              <a:defRPr sz="3300" b="1">
                <a:solidFill>
                  <a:srgbClr val="315C4D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buNone/>
              <a:defRPr sz="3300" b="1">
                <a:solidFill>
                  <a:srgbClr val="315C4D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buNone/>
              <a:defRPr sz="3300" b="1">
                <a:solidFill>
                  <a:srgbClr val="315C4D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buNone/>
              <a:defRPr sz="3300" b="1">
                <a:solidFill>
                  <a:srgbClr val="315C4D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buNone/>
              <a:defRPr sz="3300" b="1">
                <a:solidFill>
                  <a:srgbClr val="315C4D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buNone/>
              <a:defRPr sz="3300" b="1">
                <a:solidFill>
                  <a:srgbClr val="315C4D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buNone/>
              <a:defRPr sz="3300" b="1">
                <a:solidFill>
                  <a:srgbClr val="315C4D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buNone/>
              <a:defRPr sz="3300" b="1">
                <a:solidFill>
                  <a:srgbClr val="315C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315C4D"/>
                </a:solidFill>
                <a:latin typeface="Microsoft YaHei"/>
                <a:ea typeface="Microsoft YaHei"/>
                <a:cs typeface="Microsoft YaHei"/>
              </a:rPr>
              <a:t>“我现在不想和解，</a:t>
            </a:r>
          </a:p>
          <a:p xmlns:a="http://schemas.openxmlformats.org/drawingml/2006/main">
            <a:pPr>
              <a:buNone/>
              <a:defRPr sz="3300" b="1">
                <a:solidFill>
                  <a:srgbClr val="315C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315C4D"/>
                </a:solidFill>
                <a:latin typeface="Microsoft YaHei"/>
                <a:ea typeface="Microsoft YaHei"/>
                <a:cs typeface="Microsoft YaHei"/>
              </a:rPr>
              <a:t>也不要建议，我只想有人听我说。”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27DA67C-5806-4A67-9458-6CEEAF2324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6242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DCCF"/>
          </a:solidFill>
          <a:ln xmlns:a="http://schemas.openxmlformats.org/drawingml/2006/main" w="0">
            <a:noFill/>
          </a:ln>
        </p:spPr>
      </p:sp>
      <p:sp>
        <p:nvSpPr>
          <p:cNvPr id="8" name="处境">
            <a:extLst xmlns:a="http://schemas.openxmlformats.org/drawingml/2006/main">
              <a:ext uri="{FF2B5EF4-FFF2-40B4-BE49-F238E27FC236}">
                <a16:creationId xmlns:a16="http://schemas.microsoft.com/office/drawing/2014/main" id="{17149700-3392-40E1-8B37-4789C0FD58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05325"/>
            <a:ext cx="333375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475" b="1">
                <a:solidFill>
                  <a:srgbClr val="315C4D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buNone/>
              <a:defRPr sz="2475" b="1">
                <a:solidFill>
                  <a:srgbClr val="315C4D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buNone/>
              <a:defRPr sz="2475" b="1">
                <a:solidFill>
                  <a:srgbClr val="315C4D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buNone/>
              <a:defRPr sz="2475" b="1">
                <a:solidFill>
                  <a:srgbClr val="315C4D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buNone/>
              <a:defRPr sz="2475" b="1">
                <a:solidFill>
                  <a:srgbClr val="315C4D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buNone/>
              <a:defRPr sz="2475" b="1">
                <a:solidFill>
                  <a:srgbClr val="315C4D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buNone/>
              <a:defRPr sz="2475" b="1">
                <a:solidFill>
                  <a:srgbClr val="315C4D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buNone/>
              <a:defRPr sz="2475" b="1">
                <a:solidFill>
                  <a:srgbClr val="315C4D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buNone/>
              <a:defRPr sz="2475" b="1">
                <a:solidFill>
                  <a:srgbClr val="315C4D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buNone/>
              <a:defRPr sz="2475" b="1">
                <a:solidFill>
                  <a:srgbClr val="315C4D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buNone/>
              <a:defRPr sz="2475" b="1">
                <a:solidFill>
                  <a:srgbClr val="315C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75" b="1">
                <a:solidFill>
                  <a:srgbClr val="315C4D"/>
                </a:solidFill>
                <a:latin typeface="Microsoft YaHei"/>
                <a:ea typeface="Microsoft YaHei"/>
                <a:cs typeface="Microsoft YaHei"/>
              </a:rPr>
              <a:t>处境</a:t>
            </a:r>
          </a:p>
        </p:txBody>
      </p:sp>
      <p:sp>
        <p:nvSpPr>
          <p:cNvPr id="9" name="这次冲突发生了什么？">
            <a:extLst xmlns:a="http://schemas.openxmlformats.org/drawingml/2006/main">
              <a:ext uri="{FF2B5EF4-FFF2-40B4-BE49-F238E27FC236}">
                <a16:creationId xmlns:a16="http://schemas.microsoft.com/office/drawing/2014/main" id="{5B007863-7489-4382-A347-1C23516115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095875"/>
            <a:ext cx="33337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950" b="0">
                <a:solidFill>
                  <a:srgbClr val="263B32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buNone/>
              <a:defRPr sz="1950" b="0">
                <a:solidFill>
                  <a:srgbClr val="263B32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buNone/>
              <a:defRPr sz="1950" b="0">
                <a:solidFill>
                  <a:srgbClr val="263B32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buNone/>
              <a:defRPr sz="1950" b="0">
                <a:solidFill>
                  <a:srgbClr val="263B32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buNone/>
              <a:defRPr sz="1950" b="0">
                <a:solidFill>
                  <a:srgbClr val="263B32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buNone/>
              <a:defRPr sz="1950" b="0">
                <a:solidFill>
                  <a:srgbClr val="263B32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buNone/>
              <a:defRPr sz="1950" b="0">
                <a:solidFill>
                  <a:srgbClr val="263B32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buNone/>
              <a:defRPr sz="1950" b="0">
                <a:solidFill>
                  <a:srgbClr val="263B32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buNone/>
              <a:defRPr sz="1950" b="0">
                <a:solidFill>
                  <a:srgbClr val="263B32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buNone/>
              <a:defRPr sz="1950" b="0">
                <a:solidFill>
                  <a:srgbClr val="263B32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buNone/>
              <a:defRPr sz="1950" b="0">
                <a:solidFill>
                  <a:srgbClr val="263B3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263B32"/>
                </a:solidFill>
                <a:latin typeface="Microsoft YaHei"/>
                <a:ea typeface="Microsoft YaHei"/>
                <a:cs typeface="Microsoft YaHei"/>
              </a:rPr>
              <a:t>专业选择被父母否定</a:t>
            </a:r>
          </a:p>
        </p:txBody>
      </p:sp>
      <p:sp>
        <p:nvSpPr>
          <p:cNvPr id="10" name="意愿">
            <a:extLst xmlns:a="http://schemas.openxmlformats.org/drawingml/2006/main">
              <a:ext uri="{FF2B5EF4-FFF2-40B4-BE49-F238E27FC236}">
                <a16:creationId xmlns:a16="http://schemas.microsoft.com/office/drawing/2014/main" id="{EB00AC7B-540B-4EF8-A52D-9470722763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4505325"/>
            <a:ext cx="333375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475" b="1">
                <a:solidFill>
                  <a:srgbClr val="315C4D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buNone/>
              <a:defRPr sz="2475" b="1">
                <a:solidFill>
                  <a:srgbClr val="315C4D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buNone/>
              <a:defRPr sz="2475" b="1">
                <a:solidFill>
                  <a:srgbClr val="315C4D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buNone/>
              <a:defRPr sz="2475" b="1">
                <a:solidFill>
                  <a:srgbClr val="315C4D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buNone/>
              <a:defRPr sz="2475" b="1">
                <a:solidFill>
                  <a:srgbClr val="315C4D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buNone/>
              <a:defRPr sz="2475" b="1">
                <a:solidFill>
                  <a:srgbClr val="315C4D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buNone/>
              <a:defRPr sz="2475" b="1">
                <a:solidFill>
                  <a:srgbClr val="315C4D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buNone/>
              <a:defRPr sz="2475" b="1">
                <a:solidFill>
                  <a:srgbClr val="315C4D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buNone/>
              <a:defRPr sz="2475" b="1">
                <a:solidFill>
                  <a:srgbClr val="315C4D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buNone/>
              <a:defRPr sz="2475" b="1">
                <a:solidFill>
                  <a:srgbClr val="315C4D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buNone/>
              <a:defRPr sz="2475" b="1">
                <a:solidFill>
                  <a:srgbClr val="315C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75" b="1">
                <a:solidFill>
                  <a:srgbClr val="315C4D"/>
                </a:solidFill>
                <a:latin typeface="Microsoft YaHei"/>
                <a:ea typeface="Microsoft YaHei"/>
                <a:cs typeface="Microsoft YaHei"/>
              </a:rPr>
              <a:t>意愿</a:t>
            </a:r>
          </a:p>
        </p:txBody>
      </p:sp>
      <p:sp>
        <p:nvSpPr>
          <p:cNvPr id="11" name="用户此刻需要哪种支持？">
            <a:extLst xmlns:a="http://schemas.openxmlformats.org/drawingml/2006/main">
              <a:ext uri="{FF2B5EF4-FFF2-40B4-BE49-F238E27FC236}">
                <a16:creationId xmlns:a16="http://schemas.microsoft.com/office/drawing/2014/main" id="{1EDC4C08-3137-4B00-8C33-BE5C712090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5095875"/>
            <a:ext cx="33337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950" b="0">
                <a:solidFill>
                  <a:srgbClr val="263B32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buNone/>
              <a:defRPr sz="1950" b="0">
                <a:solidFill>
                  <a:srgbClr val="263B32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buNone/>
              <a:defRPr sz="1950" b="0">
                <a:solidFill>
                  <a:srgbClr val="263B32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buNone/>
              <a:defRPr sz="1950" b="0">
                <a:solidFill>
                  <a:srgbClr val="263B32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buNone/>
              <a:defRPr sz="1950" b="0">
                <a:solidFill>
                  <a:srgbClr val="263B32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buNone/>
              <a:defRPr sz="1950" b="0">
                <a:solidFill>
                  <a:srgbClr val="263B32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buNone/>
              <a:defRPr sz="1950" b="0">
                <a:solidFill>
                  <a:srgbClr val="263B32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buNone/>
              <a:defRPr sz="1950" b="0">
                <a:solidFill>
                  <a:srgbClr val="263B32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buNone/>
              <a:defRPr sz="1950" b="0">
                <a:solidFill>
                  <a:srgbClr val="263B32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buNone/>
              <a:defRPr sz="1950" b="0">
                <a:solidFill>
                  <a:srgbClr val="263B32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buNone/>
              <a:defRPr sz="1950" b="0">
                <a:solidFill>
                  <a:srgbClr val="263B3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263B32"/>
                </a:solidFill>
                <a:latin typeface="Microsoft YaHei"/>
                <a:ea typeface="Microsoft YaHei"/>
                <a:cs typeface="Microsoft YaHei"/>
              </a:rPr>
              <a:t>先倾诉，暂不接收建议</a:t>
            </a:r>
          </a:p>
        </p:txBody>
      </p:sp>
      <p:sp>
        <p:nvSpPr>
          <p:cNvPr id="12" name="边界">
            <a:extLst xmlns:a="http://schemas.openxmlformats.org/drawingml/2006/main">
              <a:ext uri="{FF2B5EF4-FFF2-40B4-BE49-F238E27FC236}">
                <a16:creationId xmlns:a16="http://schemas.microsoft.com/office/drawing/2014/main" id="{65D95A28-8F94-45CE-949A-95665E4A1F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4505325"/>
            <a:ext cx="333375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475" b="1">
                <a:solidFill>
                  <a:srgbClr val="315C4D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buNone/>
              <a:defRPr sz="2475" b="1">
                <a:solidFill>
                  <a:srgbClr val="315C4D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buNone/>
              <a:defRPr sz="2475" b="1">
                <a:solidFill>
                  <a:srgbClr val="315C4D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buNone/>
              <a:defRPr sz="2475" b="1">
                <a:solidFill>
                  <a:srgbClr val="315C4D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buNone/>
              <a:defRPr sz="2475" b="1">
                <a:solidFill>
                  <a:srgbClr val="315C4D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buNone/>
              <a:defRPr sz="2475" b="1">
                <a:solidFill>
                  <a:srgbClr val="315C4D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buNone/>
              <a:defRPr sz="2475" b="1">
                <a:solidFill>
                  <a:srgbClr val="315C4D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buNone/>
              <a:defRPr sz="2475" b="1">
                <a:solidFill>
                  <a:srgbClr val="315C4D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buNone/>
              <a:defRPr sz="2475" b="1">
                <a:solidFill>
                  <a:srgbClr val="315C4D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buNone/>
              <a:defRPr sz="2475" b="1">
                <a:solidFill>
                  <a:srgbClr val="315C4D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buNone/>
              <a:defRPr sz="2475" b="1">
                <a:solidFill>
                  <a:srgbClr val="315C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75" b="1">
                <a:solidFill>
                  <a:srgbClr val="315C4D"/>
                </a:solidFill>
                <a:latin typeface="Microsoft YaHei"/>
                <a:ea typeface="Microsoft YaHei"/>
                <a:cs typeface="Microsoft YaHei"/>
              </a:rPr>
              <a:t>边界</a:t>
            </a:r>
          </a:p>
        </p:txBody>
      </p:sp>
      <p:sp>
        <p:nvSpPr>
          <p:cNvPr id="13" name="哪些回应可能带来风险？">
            <a:extLst xmlns:a="http://schemas.openxmlformats.org/drawingml/2006/main">
              <a:ext uri="{FF2B5EF4-FFF2-40B4-BE49-F238E27FC236}">
                <a16:creationId xmlns:a16="http://schemas.microsoft.com/office/drawing/2014/main" id="{06BF6B7F-3596-431E-BAD1-FC0C865D48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5095875"/>
            <a:ext cx="33337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950" b="0">
                <a:solidFill>
                  <a:srgbClr val="263B32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buNone/>
              <a:defRPr sz="1950" b="0">
                <a:solidFill>
                  <a:srgbClr val="263B32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buNone/>
              <a:defRPr sz="1950" b="0">
                <a:solidFill>
                  <a:srgbClr val="263B32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buNone/>
              <a:defRPr sz="1950" b="0">
                <a:solidFill>
                  <a:srgbClr val="263B32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buNone/>
              <a:defRPr sz="1950" b="0">
                <a:solidFill>
                  <a:srgbClr val="263B32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buNone/>
              <a:defRPr sz="1950" b="0">
                <a:solidFill>
                  <a:srgbClr val="263B32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buNone/>
              <a:defRPr sz="1950" b="0">
                <a:solidFill>
                  <a:srgbClr val="263B32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buNone/>
              <a:defRPr sz="1950" b="0">
                <a:solidFill>
                  <a:srgbClr val="263B32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buNone/>
              <a:defRPr sz="1950" b="0">
                <a:solidFill>
                  <a:srgbClr val="263B32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buNone/>
              <a:defRPr sz="1950" b="0">
                <a:solidFill>
                  <a:srgbClr val="263B32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buNone/>
              <a:defRPr sz="1950" b="0">
                <a:solidFill>
                  <a:srgbClr val="263B3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263B32"/>
                </a:solidFill>
                <a:latin typeface="Microsoft YaHei"/>
                <a:ea typeface="Microsoft YaHei"/>
                <a:cs typeface="Microsoft YaHei"/>
              </a:rPr>
              <a:t>不默认劝和或联系父母</a:t>
            </a:r>
          </a:p>
        </p:txBody>
      </p:sp>
      <p:sp>
        <p:nvSpPr>
          <p:cNvPr id="15" name="虚构设计情境，未作为用户调研或真实个案使用。">
            <a:extLst xmlns:a="http://schemas.openxmlformats.org/drawingml/2006/main">
              <a:ext uri="{FF2B5EF4-FFF2-40B4-BE49-F238E27FC236}">
                <a16:creationId xmlns:a16="http://schemas.microsoft.com/office/drawing/2014/main" id="{23283AE8-462C-4142-8A6D-FF3BD3E306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81700"/>
            <a:ext cx="109728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637368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725" b="0">
                <a:solidFill>
                  <a:srgbClr val="637368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725" b="0">
                <a:solidFill>
                  <a:srgbClr val="637368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725" b="0">
                <a:solidFill>
                  <a:srgbClr val="637368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725" b="0">
                <a:solidFill>
                  <a:srgbClr val="637368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725" b="0">
                <a:solidFill>
                  <a:srgbClr val="637368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725" b="0">
                <a:solidFill>
                  <a:srgbClr val="637368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725" b="0">
                <a:solidFill>
                  <a:srgbClr val="637368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725" b="0">
                <a:solidFill>
                  <a:srgbClr val="637368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725" b="0">
                <a:solidFill>
                  <a:srgbClr val="63736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6373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637368"/>
                </a:solidFill>
                <a:latin typeface="Microsoft YaHei"/>
                <a:ea typeface="Microsoft YaHei"/>
                <a:cs typeface="Microsoft YaHei"/>
              </a:rPr>
              <a:t>虚构设计情境，未作为用户调研或真实个案使用。</a:t>
            </a:r>
          </a:p>
        </p:txBody>
      </p:sp>
    </p:spTree>
    <p:extLst>
      <p:ext uri="{BB962C8B-B14F-4D97-AF65-F5344CB8AC3E}">
        <p14:creationId xmlns:p14="http://schemas.microsoft.com/office/powerpoint/2010/main" val="1496204755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7F6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02  /  产品演示">
            <a:extLst xmlns:a="http://schemas.openxmlformats.org/drawingml/2006/main">
              <a:ext uri="{FF2B5EF4-FFF2-40B4-BE49-F238E27FC236}">
                <a16:creationId xmlns:a16="http://schemas.microsoft.com/office/drawing/2014/main" id="{941D4BE5-F7BC-4A68-937D-9664ED8052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9525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650" b="1">
                <a:solidFill>
                  <a:srgbClr val="315C4D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buNone/>
              <a:defRPr sz="1650" b="1">
                <a:solidFill>
                  <a:srgbClr val="315C4D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buNone/>
              <a:defRPr sz="1650" b="1">
                <a:solidFill>
                  <a:srgbClr val="315C4D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buNone/>
              <a:defRPr sz="1650" b="1">
                <a:solidFill>
                  <a:srgbClr val="315C4D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buNone/>
              <a:defRPr sz="1650" b="1">
                <a:solidFill>
                  <a:srgbClr val="315C4D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buNone/>
              <a:defRPr sz="1650" b="1">
                <a:solidFill>
                  <a:srgbClr val="315C4D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buNone/>
              <a:defRPr sz="1650" b="1">
                <a:solidFill>
                  <a:srgbClr val="315C4D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buNone/>
              <a:defRPr sz="1650" b="1">
                <a:solidFill>
                  <a:srgbClr val="315C4D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buNone/>
              <a:defRPr sz="1650" b="1">
                <a:solidFill>
                  <a:srgbClr val="315C4D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buNone/>
              <a:defRPr sz="1650" b="1">
                <a:solidFill>
                  <a:srgbClr val="315C4D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buNone/>
              <a:defRPr sz="1650" b="1">
                <a:solidFill>
                  <a:srgbClr val="315C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315C4D"/>
                </a:solidFill>
                <a:latin typeface="Microsoft YaHei"/>
                <a:ea typeface="Microsoft YaHei"/>
                <a:cs typeface="Microsoft YaHei"/>
              </a:rPr>
              <a:t>02  /  用户能看见、也能控制</a:t>
            </a:r>
          </a:p>
        </p:txBody>
      </p:sp>
      <p:sp>
        <p:nvSpPr>
          <p:cNvPr id="2" name="把“由用户决定”放在界面里。">
            <a:extLst xmlns:a="http://schemas.openxmlformats.org/drawingml/2006/main">
              <a:ext uri="{FF2B5EF4-FFF2-40B4-BE49-F238E27FC236}">
                <a16:creationId xmlns:a16="http://schemas.microsoft.com/office/drawing/2014/main" id="{A4EE4599-3D82-4391-AD76-C1A60D95FD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47725"/>
            <a:ext cx="11049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300" b="1">
                <a:solidFill>
                  <a:srgbClr val="263B32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buNone/>
              <a:defRPr sz="3300" b="1">
                <a:solidFill>
                  <a:srgbClr val="263B32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buNone/>
              <a:defRPr sz="3300" b="1">
                <a:solidFill>
                  <a:srgbClr val="263B32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buNone/>
              <a:defRPr sz="3300" b="1">
                <a:solidFill>
                  <a:srgbClr val="263B32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buNone/>
              <a:defRPr sz="3300" b="1">
                <a:solidFill>
                  <a:srgbClr val="263B32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buNone/>
              <a:defRPr sz="3300" b="1">
                <a:solidFill>
                  <a:srgbClr val="263B32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buNone/>
              <a:defRPr sz="3300" b="1">
                <a:solidFill>
                  <a:srgbClr val="263B32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buNone/>
              <a:defRPr sz="3300" b="1">
                <a:solidFill>
                  <a:srgbClr val="263B32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buNone/>
              <a:defRPr sz="3300" b="1">
                <a:solidFill>
                  <a:srgbClr val="263B32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buNone/>
              <a:defRPr sz="3300" b="1">
                <a:solidFill>
                  <a:srgbClr val="263B32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buNone/>
              <a:defRPr sz="3300" b="1">
                <a:solidFill>
                  <a:srgbClr val="263B3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263B32"/>
                </a:solidFill>
                <a:latin typeface="Microsoft YaHei"/>
                <a:ea typeface="Microsoft YaHei"/>
                <a:cs typeface="Microsoft YaHei"/>
              </a:rPr>
              <a:t>支持方式、处理过程和停止权，都有入口。</a:t>
            </a:r>
          </a:p>
        </p:txBody>
      </p:sp>
      <p:sp>
        <p:nvSpPr>
          <p:cNvPr id="3" name="本地网站已接入新后端；演示时使用虚构情境。">
            <a:extLst xmlns:a="http://schemas.openxmlformats.org/drawingml/2006/main">
              <a:ext uri="{FF2B5EF4-FFF2-40B4-BE49-F238E27FC236}">
                <a16:creationId xmlns:a16="http://schemas.microsoft.com/office/drawing/2014/main" id="{8EB71F17-2B50-4DF5-B4A2-080C994243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28775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950" b="0">
                <a:solidFill>
                  <a:srgbClr val="637368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buNone/>
              <a:defRPr sz="1950" b="0">
                <a:solidFill>
                  <a:srgbClr val="637368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buNone/>
              <a:defRPr sz="1950" b="0">
                <a:solidFill>
                  <a:srgbClr val="637368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buNone/>
              <a:defRPr sz="1950" b="0">
                <a:solidFill>
                  <a:srgbClr val="637368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buNone/>
              <a:defRPr sz="1950" b="0">
                <a:solidFill>
                  <a:srgbClr val="637368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buNone/>
              <a:defRPr sz="1950" b="0">
                <a:solidFill>
                  <a:srgbClr val="637368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buNone/>
              <a:defRPr sz="1950" b="0">
                <a:solidFill>
                  <a:srgbClr val="637368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buNone/>
              <a:defRPr sz="1950" b="0">
                <a:solidFill>
                  <a:srgbClr val="637368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buNone/>
              <a:defRPr sz="1950" b="0">
                <a:solidFill>
                  <a:srgbClr val="637368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buNone/>
              <a:defRPr sz="1950" b="0">
                <a:solidFill>
                  <a:srgbClr val="63736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buNone/>
              <a:defRPr sz="1950" b="0">
                <a:solidFill>
                  <a:srgbClr val="6373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637368"/>
                </a:solidFill>
                <a:latin typeface="Microsoft YaHei"/>
                <a:ea typeface="Microsoft YaHei"/>
                <a:cs typeface="Microsoft YaHei"/>
              </a:rPr>
              <a:t>本地网站实拍：本轮拒绝覆盖“准备表达”，技术记录可单独导出。</a:t>
            </a:r>
          </a:p>
        </p:txBody>
      </p:sp>
      <p:sp>
        <p:nvSpPr>
          <p:cNvPr id="4" name="KinVoice  /  内部答辩演示 · 2026.1">
            <a:extLst xmlns:a="http://schemas.openxmlformats.org/drawingml/2006/main">
              <a:ext uri="{FF2B5EF4-FFF2-40B4-BE49-F238E27FC236}">
                <a16:creationId xmlns:a16="http://schemas.microsoft.com/office/drawing/2014/main" id="{58138575-4EE7-4019-B2D8-DDF31F8C38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48425"/>
            <a:ext cx="9620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350" b="0">
                <a:solidFill>
                  <a:srgbClr val="637368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buNone/>
              <a:defRPr sz="1350" b="0">
                <a:solidFill>
                  <a:srgbClr val="637368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buNone/>
              <a:defRPr sz="1350" b="0">
                <a:solidFill>
                  <a:srgbClr val="637368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buNone/>
              <a:defRPr sz="1350" b="0">
                <a:solidFill>
                  <a:srgbClr val="637368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buNone/>
              <a:defRPr sz="1350" b="0">
                <a:solidFill>
                  <a:srgbClr val="637368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buNone/>
              <a:defRPr sz="1350" b="0">
                <a:solidFill>
                  <a:srgbClr val="637368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buNone/>
              <a:defRPr sz="1350" b="0">
                <a:solidFill>
                  <a:srgbClr val="637368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buNone/>
              <a:defRPr sz="1350" b="0">
                <a:solidFill>
                  <a:srgbClr val="637368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buNone/>
              <a:defRPr sz="1350" b="0">
                <a:solidFill>
                  <a:srgbClr val="637368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buNone/>
              <a:defRPr sz="1350" b="0">
                <a:solidFill>
                  <a:srgbClr val="63736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buNone/>
              <a:defRPr sz="1350" b="0">
                <a:solidFill>
                  <a:srgbClr val="6373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37368"/>
                </a:solidFill>
                <a:latin typeface="Microsoft YaHei"/>
                <a:ea typeface="Microsoft YaHei"/>
                <a:cs typeface="Microsoft YaHei"/>
              </a:rPr>
              <a:t>KinVoice  /  内部答辩演示 · v0.5 · 2026.10</a:t>
            </a:r>
          </a:p>
        </p:txBody>
      </p:sp>
      <p:sp>
        <p:nvSpPr>
          <p:cNvPr id="5" name="03">
            <a:extLst xmlns:a="http://schemas.openxmlformats.org/drawingml/2006/main">
              <a:ext uri="{FF2B5EF4-FFF2-40B4-BE49-F238E27FC236}">
                <a16:creationId xmlns:a16="http://schemas.microsoft.com/office/drawing/2014/main" id="{81B327E9-6BFC-4AF9-81EC-751199E479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77575" y="6419850"/>
            <a:ext cx="5048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500" b="1">
                <a:solidFill>
                  <a:srgbClr val="315C4D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buNone/>
              <a:defRPr sz="1500" b="1">
                <a:solidFill>
                  <a:srgbClr val="315C4D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buNone/>
              <a:defRPr sz="1500" b="1">
                <a:solidFill>
                  <a:srgbClr val="315C4D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buNone/>
              <a:defRPr sz="1500" b="1">
                <a:solidFill>
                  <a:srgbClr val="315C4D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buNone/>
              <a:defRPr sz="1500" b="1">
                <a:solidFill>
                  <a:srgbClr val="315C4D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buNone/>
              <a:defRPr sz="1500" b="1">
                <a:solidFill>
                  <a:srgbClr val="315C4D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buNone/>
              <a:defRPr sz="1500" b="1">
                <a:solidFill>
                  <a:srgbClr val="315C4D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buNone/>
              <a:defRPr sz="1500" b="1">
                <a:solidFill>
                  <a:srgbClr val="315C4D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buNone/>
              <a:defRPr sz="1500" b="1">
                <a:solidFill>
                  <a:srgbClr val="315C4D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buNone/>
              <a:defRPr sz="1500" b="1">
                <a:solidFill>
                  <a:srgbClr val="315C4D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buNone/>
              <a:defRPr sz="1500" b="1">
                <a:solidFill>
                  <a:srgbClr val="315C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315C4D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pic>
        <p:nvPic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BBC561C-E188-4D44-921B-5C12B52413E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d449f3f74d541a9"/>
          <a:stretch xmlns:a="http://schemas.openxmlformats.org/drawingml/2006/main"/>
        </p:blipFill>
        <p:spPr>
          <a:xfrm xmlns:a="http://schemas.openxmlformats.org/drawingml/2006/main">
            <a:off x="939801" y="2352675"/>
            <a:ext cx="7112000" cy="4000500"/>
          </a:xfrm>
          <a:prstGeom xmlns:a="http://schemas.openxmlformats.org/drawingml/2006/main" prst="rect">
            <a:avLst/>
          </a:prstGeom>
        </p:spPr>
      </p:pic>
      <p:sp>
        <p:nvSpPr>
          <p:cNvPr id="7" name="选择支持方式">
            <a:extLst xmlns:a="http://schemas.openxmlformats.org/drawingml/2006/main">
              <a:ext uri="{FF2B5EF4-FFF2-40B4-BE49-F238E27FC236}">
                <a16:creationId xmlns:a16="http://schemas.microsoft.com/office/drawing/2014/main" id="{ED63CB93-4897-4CF3-986D-9AF8D03F91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2466975"/>
            <a:ext cx="2762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325" b="1">
                <a:solidFill>
                  <a:srgbClr val="315C4D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buNone/>
              <a:defRPr sz="2325" b="1">
                <a:solidFill>
                  <a:srgbClr val="315C4D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buNone/>
              <a:defRPr sz="2325" b="1">
                <a:solidFill>
                  <a:srgbClr val="315C4D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buNone/>
              <a:defRPr sz="2325" b="1">
                <a:solidFill>
                  <a:srgbClr val="315C4D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buNone/>
              <a:defRPr sz="2325" b="1">
                <a:solidFill>
                  <a:srgbClr val="315C4D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buNone/>
              <a:defRPr sz="2325" b="1">
                <a:solidFill>
                  <a:srgbClr val="315C4D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buNone/>
              <a:defRPr sz="2325" b="1">
                <a:solidFill>
                  <a:srgbClr val="315C4D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buNone/>
              <a:defRPr sz="2325" b="1">
                <a:solidFill>
                  <a:srgbClr val="315C4D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buNone/>
              <a:defRPr sz="2325" b="1">
                <a:solidFill>
                  <a:srgbClr val="315C4D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buNone/>
              <a:defRPr sz="2325" b="1">
                <a:solidFill>
                  <a:srgbClr val="315C4D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buNone/>
              <a:defRPr sz="2325" b="1">
                <a:solidFill>
                  <a:srgbClr val="315C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315C4D"/>
                </a:solidFill>
                <a:latin typeface="Microsoft YaHei"/>
                <a:ea typeface="Microsoft YaHei"/>
                <a:cs typeface="Microsoft YaHei"/>
              </a:rPr>
              <a:t>表达当前意愿</a:t>
            </a:r>
          </a:p>
        </p:txBody>
      </p:sp>
      <p:sp>
        <p:nvSpPr>
          <p:cNvPr id="8" name="倾听 · 澄清&#10;稳定 · 草稿">
            <a:extLst xmlns:a="http://schemas.openxmlformats.org/drawingml/2006/main">
              <a:ext uri="{FF2B5EF4-FFF2-40B4-BE49-F238E27FC236}">
                <a16:creationId xmlns:a16="http://schemas.microsoft.com/office/drawing/2014/main" id="{553352E4-49B5-477B-840E-04F6CABE77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3048000"/>
            <a:ext cx="27622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00" b="0">
                <a:solidFill>
                  <a:srgbClr val="263B32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buNone/>
              <a:defRPr sz="2100" b="0">
                <a:solidFill>
                  <a:srgbClr val="263B32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buNone/>
              <a:defRPr sz="2100" b="0">
                <a:solidFill>
                  <a:srgbClr val="263B32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buNone/>
              <a:defRPr sz="2100" b="0">
                <a:solidFill>
                  <a:srgbClr val="263B32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buNone/>
              <a:defRPr sz="2100" b="0">
                <a:solidFill>
                  <a:srgbClr val="263B32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buNone/>
              <a:defRPr sz="2100" b="0">
                <a:solidFill>
                  <a:srgbClr val="263B32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buNone/>
              <a:defRPr sz="2100" b="0">
                <a:solidFill>
                  <a:srgbClr val="263B32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buNone/>
              <a:defRPr sz="2100" b="0">
                <a:solidFill>
                  <a:srgbClr val="263B32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buNone/>
              <a:defRPr sz="2100" b="0">
                <a:solidFill>
                  <a:srgbClr val="263B32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buNone/>
              <a:defRPr sz="2100" b="0">
                <a:solidFill>
                  <a:srgbClr val="263B32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buNone/>
              <a:defRPr sz="2100" b="0">
                <a:solidFill>
                  <a:srgbClr val="263B3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63B32"/>
                </a:solidFill>
                <a:latin typeface="Microsoft YaHei"/>
                <a:ea typeface="Microsoft YaHei"/>
                <a:cs typeface="Microsoft YaHei"/>
              </a:rPr>
              <a:t>倾听 · 澄清</a:t>
            </a:r>
          </a:p>
          <a:p xmlns:a="http://schemas.openxmlformats.org/drawingml/2006/main">
            <a:pPr>
              <a:buNone/>
              <a:defRPr sz="2100" b="0">
                <a:solidFill>
                  <a:srgbClr val="263B3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63B32"/>
                </a:solidFill>
                <a:latin typeface="Microsoft YaHei"/>
                <a:ea typeface="Microsoft YaHei"/>
                <a:cs typeface="Microsoft YaHei"/>
              </a:rPr>
              <a:t>稳定 · 草稿</a:t>
            </a:r>
          </a:p>
        </p:txBody>
      </p:sp>
      <p:sp>
        <p:nvSpPr>
          <p:cNvPr id="9" name="随时暂停和清空">
            <a:extLst xmlns:a="http://schemas.openxmlformats.org/drawingml/2006/main">
              <a:ext uri="{FF2B5EF4-FFF2-40B4-BE49-F238E27FC236}">
                <a16:creationId xmlns:a16="http://schemas.microsoft.com/office/drawing/2014/main" id="{AEAC4FB8-4991-4A44-BBE9-14B95097B3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4124325"/>
            <a:ext cx="2762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325" b="1">
                <a:solidFill>
                  <a:srgbClr val="315C4D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buNone/>
              <a:defRPr sz="2325" b="1">
                <a:solidFill>
                  <a:srgbClr val="315C4D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buNone/>
              <a:defRPr sz="2325" b="1">
                <a:solidFill>
                  <a:srgbClr val="315C4D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buNone/>
              <a:defRPr sz="2325" b="1">
                <a:solidFill>
                  <a:srgbClr val="315C4D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buNone/>
              <a:defRPr sz="2325" b="1">
                <a:solidFill>
                  <a:srgbClr val="315C4D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buNone/>
              <a:defRPr sz="2325" b="1">
                <a:solidFill>
                  <a:srgbClr val="315C4D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buNone/>
              <a:defRPr sz="2325" b="1">
                <a:solidFill>
                  <a:srgbClr val="315C4D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buNone/>
              <a:defRPr sz="2325" b="1">
                <a:solidFill>
                  <a:srgbClr val="315C4D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buNone/>
              <a:defRPr sz="2325" b="1">
                <a:solidFill>
                  <a:srgbClr val="315C4D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buNone/>
              <a:defRPr sz="2325" b="1">
                <a:solidFill>
                  <a:srgbClr val="315C4D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buNone/>
              <a:defRPr sz="2325" b="1">
                <a:solidFill>
                  <a:srgbClr val="315C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315C4D"/>
                </a:solidFill>
                <a:latin typeface="Microsoft YaHei"/>
                <a:ea typeface="Microsoft YaHei"/>
                <a:cs typeface="Microsoft YaHei"/>
              </a:rPr>
              <a:t>暂停 · 清空 · 导出</a:t>
            </a:r>
          </a:p>
        </p:txBody>
      </p:sp>
      <p:sp>
        <p:nvSpPr>
          <p:cNvPr id="10" name="把当下意愿&#10;留给用户自己">
            <a:extLst xmlns:a="http://schemas.openxmlformats.org/drawingml/2006/main">
              <a:ext uri="{FF2B5EF4-FFF2-40B4-BE49-F238E27FC236}">
                <a16:creationId xmlns:a16="http://schemas.microsoft.com/office/drawing/2014/main" id="{4BA7B6BE-D142-4161-A3F4-F38FD2AD83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4705350"/>
            <a:ext cx="2762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00" b="0">
                <a:solidFill>
                  <a:srgbClr val="263B32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buNone/>
              <a:defRPr sz="2100" b="0">
                <a:solidFill>
                  <a:srgbClr val="263B32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buNone/>
              <a:defRPr sz="2100" b="0">
                <a:solidFill>
                  <a:srgbClr val="263B32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buNone/>
              <a:defRPr sz="2100" b="0">
                <a:solidFill>
                  <a:srgbClr val="263B32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buNone/>
              <a:defRPr sz="2100" b="0">
                <a:solidFill>
                  <a:srgbClr val="263B32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buNone/>
              <a:defRPr sz="2100" b="0">
                <a:solidFill>
                  <a:srgbClr val="263B32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buNone/>
              <a:defRPr sz="2100" b="0">
                <a:solidFill>
                  <a:srgbClr val="263B32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buNone/>
              <a:defRPr sz="2100" b="0">
                <a:solidFill>
                  <a:srgbClr val="263B32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buNone/>
              <a:defRPr sz="2100" b="0">
                <a:solidFill>
                  <a:srgbClr val="263B32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buNone/>
              <a:defRPr sz="2100" b="0">
                <a:solidFill>
                  <a:srgbClr val="263B32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buNone/>
              <a:defRPr sz="2100" b="0">
                <a:solidFill>
                  <a:srgbClr val="263B3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63B32"/>
                </a:solidFill>
                <a:latin typeface="Microsoft YaHei"/>
                <a:ea typeface="Microsoft YaHei"/>
                <a:cs typeface="Microsoft YaHei"/>
              </a:rPr>
              <a:t>技术记录单独导出</a:t>
            </a:r>
          </a:p>
          <a:p xmlns:a="http://schemas.openxmlformats.org/drawingml/2006/main">
            <a:pPr>
              <a:buNone/>
              <a:defRPr sz="2100" b="0">
                <a:solidFill>
                  <a:srgbClr val="263B3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63B32"/>
                </a:solidFill>
                <a:latin typeface="Microsoft YaHei"/>
                <a:ea typeface="Microsoft YaHei"/>
                <a:cs typeface="Microsoft YaHei"/>
              </a:rPr>
              <a:t>不含原话和回复</a:t>
            </a:r>
          </a:p>
        </p:txBody>
      </p:sp>
    </p:spTree>
    <p:extLst>
      <p:ext uri="{BB962C8B-B14F-4D97-AF65-F5344CB8AC3E}">
        <p14:creationId xmlns:p14="http://schemas.microsoft.com/office/powerpoint/2010/main" val="1560490087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7F6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03  /  三个可复现的案例">
            <a:extLst xmlns:a="http://schemas.openxmlformats.org/drawingml/2006/main">
              <a:ext uri="{FF2B5EF4-FFF2-40B4-BE49-F238E27FC236}">
                <a16:creationId xmlns:a16="http://schemas.microsoft.com/office/drawing/2014/main" id="{60A03E7C-507D-4A66-93B6-5A434AAE34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9525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650" b="1">
                <a:solidFill>
                  <a:srgbClr val="315C4D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buNone/>
              <a:defRPr sz="1650" b="1">
                <a:solidFill>
                  <a:srgbClr val="315C4D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buNone/>
              <a:defRPr sz="1650" b="1">
                <a:solidFill>
                  <a:srgbClr val="315C4D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buNone/>
              <a:defRPr sz="1650" b="1">
                <a:solidFill>
                  <a:srgbClr val="315C4D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buNone/>
              <a:defRPr sz="1650" b="1">
                <a:solidFill>
                  <a:srgbClr val="315C4D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buNone/>
              <a:defRPr sz="1650" b="1">
                <a:solidFill>
                  <a:srgbClr val="315C4D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buNone/>
              <a:defRPr sz="1650" b="1">
                <a:solidFill>
                  <a:srgbClr val="315C4D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buNone/>
              <a:defRPr sz="1650" b="1">
                <a:solidFill>
                  <a:srgbClr val="315C4D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buNone/>
              <a:defRPr sz="1650" b="1">
                <a:solidFill>
                  <a:srgbClr val="315C4D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buNone/>
              <a:defRPr sz="1650" b="1">
                <a:solidFill>
                  <a:srgbClr val="315C4D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buNone/>
              <a:defRPr sz="1650" b="1">
                <a:solidFill>
                  <a:srgbClr val="315C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315C4D"/>
                </a:solidFill>
                <a:latin typeface="Microsoft YaHei"/>
                <a:ea typeface="Microsoft YaHei"/>
                <a:cs typeface="Microsoft YaHei"/>
              </a:rPr>
              <a:t>03  /  情境改变，策略跟着改变</a:t>
            </a:r>
          </a:p>
        </p:txBody>
      </p:sp>
      <p:sp>
        <p:nvSpPr>
          <p:cNvPr id="2" name="同样点了“准备表达”，也可以退回倾听。">
            <a:extLst xmlns:a="http://schemas.openxmlformats.org/drawingml/2006/main">
              <a:ext uri="{FF2B5EF4-FFF2-40B4-BE49-F238E27FC236}">
                <a16:creationId xmlns:a16="http://schemas.microsoft.com/office/drawing/2014/main" id="{89DDC623-B33C-42FB-9EB1-05144D0382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47725"/>
            <a:ext cx="11049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300" b="1">
                <a:solidFill>
                  <a:srgbClr val="263B32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buNone/>
              <a:defRPr sz="3300" b="1">
                <a:solidFill>
                  <a:srgbClr val="263B32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buNone/>
              <a:defRPr sz="3300" b="1">
                <a:solidFill>
                  <a:srgbClr val="263B32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buNone/>
              <a:defRPr sz="3300" b="1">
                <a:solidFill>
                  <a:srgbClr val="263B32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buNone/>
              <a:defRPr sz="3300" b="1">
                <a:solidFill>
                  <a:srgbClr val="263B32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buNone/>
              <a:defRPr sz="3300" b="1">
                <a:solidFill>
                  <a:srgbClr val="263B32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buNone/>
              <a:defRPr sz="3300" b="1">
                <a:solidFill>
                  <a:srgbClr val="263B32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buNone/>
              <a:defRPr sz="3300" b="1">
                <a:solidFill>
                  <a:srgbClr val="263B32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buNone/>
              <a:defRPr sz="3300" b="1">
                <a:solidFill>
                  <a:srgbClr val="263B32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buNone/>
              <a:defRPr sz="3300" b="1">
                <a:solidFill>
                  <a:srgbClr val="263B32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buNone/>
              <a:defRPr sz="3300" b="1">
                <a:solidFill>
                  <a:srgbClr val="263B3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263B32"/>
                </a:solidFill>
                <a:latin typeface="Microsoft YaHei"/>
                <a:ea typeface="Microsoft YaHei"/>
                <a:cs typeface="Microsoft YaHei"/>
              </a:rPr>
              <a:t>同样点了“准备表达”，也可以退回倾听。</a:t>
            </a:r>
          </a:p>
        </p:txBody>
      </p:sp>
      <p:sp>
        <p:nvSpPr>
          <p:cNvPr id="3" name="当前结果来自本地规则与固定模板，三例均为零模型调用。">
            <a:extLst xmlns:a="http://schemas.openxmlformats.org/drawingml/2006/main">
              <a:ext uri="{FF2B5EF4-FFF2-40B4-BE49-F238E27FC236}">
                <a16:creationId xmlns:a16="http://schemas.microsoft.com/office/drawing/2014/main" id="{8B4301F5-8CBB-45E6-8CED-9BC6221995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28775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950" b="0">
                <a:solidFill>
                  <a:srgbClr val="637368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buNone/>
              <a:defRPr sz="1950" b="0">
                <a:solidFill>
                  <a:srgbClr val="637368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buNone/>
              <a:defRPr sz="1950" b="0">
                <a:solidFill>
                  <a:srgbClr val="637368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buNone/>
              <a:defRPr sz="1950" b="0">
                <a:solidFill>
                  <a:srgbClr val="637368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buNone/>
              <a:defRPr sz="1950" b="0">
                <a:solidFill>
                  <a:srgbClr val="637368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buNone/>
              <a:defRPr sz="1950" b="0">
                <a:solidFill>
                  <a:srgbClr val="637368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buNone/>
              <a:defRPr sz="1950" b="0">
                <a:solidFill>
                  <a:srgbClr val="637368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buNone/>
              <a:defRPr sz="1950" b="0">
                <a:solidFill>
                  <a:srgbClr val="637368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buNone/>
              <a:defRPr sz="1950" b="0">
                <a:solidFill>
                  <a:srgbClr val="637368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buNone/>
              <a:defRPr sz="1950" b="0">
                <a:solidFill>
                  <a:srgbClr val="63736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buNone/>
              <a:defRPr sz="1950" b="0">
                <a:solidFill>
                  <a:srgbClr val="6373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637368"/>
                </a:solidFill>
                <a:latin typeface="Microsoft YaHei"/>
                <a:ea typeface="Microsoft YaHei"/>
                <a:cs typeface="Microsoft YaHei"/>
              </a:rPr>
              <a:t>以下为本地规则与固定模板的实际行为，三个案例均为零模型调用。</a:t>
            </a:r>
          </a:p>
        </p:txBody>
      </p:sp>
      <p:sp>
        <p:nvSpPr>
          <p:cNvPr id="4" name="KinVoice  /  内部答辩演示 · 2026.1">
            <a:extLst xmlns:a="http://schemas.openxmlformats.org/drawingml/2006/main">
              <a:ext uri="{FF2B5EF4-FFF2-40B4-BE49-F238E27FC236}">
                <a16:creationId xmlns:a16="http://schemas.microsoft.com/office/drawing/2014/main" id="{925668AC-2CEB-4ACF-8BA2-DAC28ED210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48425"/>
            <a:ext cx="9620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350" b="0">
                <a:solidFill>
                  <a:srgbClr val="637368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buNone/>
              <a:defRPr sz="1350" b="0">
                <a:solidFill>
                  <a:srgbClr val="637368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buNone/>
              <a:defRPr sz="1350" b="0">
                <a:solidFill>
                  <a:srgbClr val="637368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buNone/>
              <a:defRPr sz="1350" b="0">
                <a:solidFill>
                  <a:srgbClr val="637368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buNone/>
              <a:defRPr sz="1350" b="0">
                <a:solidFill>
                  <a:srgbClr val="637368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buNone/>
              <a:defRPr sz="1350" b="0">
                <a:solidFill>
                  <a:srgbClr val="637368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buNone/>
              <a:defRPr sz="1350" b="0">
                <a:solidFill>
                  <a:srgbClr val="637368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buNone/>
              <a:defRPr sz="1350" b="0">
                <a:solidFill>
                  <a:srgbClr val="637368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buNone/>
              <a:defRPr sz="1350" b="0">
                <a:solidFill>
                  <a:srgbClr val="637368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buNone/>
              <a:defRPr sz="1350" b="0">
                <a:solidFill>
                  <a:srgbClr val="63736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buNone/>
              <a:defRPr sz="1350" b="0">
                <a:solidFill>
                  <a:srgbClr val="6373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37368"/>
                </a:solidFill>
                <a:latin typeface="Microsoft YaHei"/>
                <a:ea typeface="Microsoft YaHei"/>
                <a:cs typeface="Microsoft YaHei"/>
              </a:rPr>
              <a:t>KinVoice  /  内部答辩演示 · v0.5 · 2026.10</a:t>
            </a:r>
          </a:p>
        </p:txBody>
      </p:sp>
      <p:sp>
        <p:nvSpPr>
          <p:cNvPr id="5" name="04">
            <a:extLst xmlns:a="http://schemas.openxmlformats.org/drawingml/2006/main">
              <a:ext uri="{FF2B5EF4-FFF2-40B4-BE49-F238E27FC236}">
                <a16:creationId xmlns:a16="http://schemas.microsoft.com/office/drawing/2014/main" id="{3F413723-4B91-4A2B-99AE-5A614A5683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77575" y="6419850"/>
            <a:ext cx="5048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500" b="1">
                <a:solidFill>
                  <a:srgbClr val="315C4D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buNone/>
              <a:defRPr sz="1500" b="1">
                <a:solidFill>
                  <a:srgbClr val="315C4D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buNone/>
              <a:defRPr sz="1500" b="1">
                <a:solidFill>
                  <a:srgbClr val="315C4D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buNone/>
              <a:defRPr sz="1500" b="1">
                <a:solidFill>
                  <a:srgbClr val="315C4D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buNone/>
              <a:defRPr sz="1500" b="1">
                <a:solidFill>
                  <a:srgbClr val="315C4D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buNone/>
              <a:defRPr sz="1500" b="1">
                <a:solidFill>
                  <a:srgbClr val="315C4D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buNone/>
              <a:defRPr sz="1500" b="1">
                <a:solidFill>
                  <a:srgbClr val="315C4D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buNone/>
              <a:defRPr sz="1500" b="1">
                <a:solidFill>
                  <a:srgbClr val="315C4D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buNone/>
              <a:defRPr sz="1500" b="1">
                <a:solidFill>
                  <a:srgbClr val="315C4D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buNone/>
              <a:defRPr sz="1500" b="1">
                <a:solidFill>
                  <a:srgbClr val="315C4D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buNone/>
              <a:defRPr sz="1500" b="1">
                <a:solidFill>
                  <a:srgbClr val="315C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315C4D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graphicFrame>
        <p:nvGraphicFrame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F475452-48E6-4C4F-8A3F-84AC271641B0}"/>
              </a:ext>
            </a:extLst>
          </p:cNvPr>
          <p:cNvGraphicFramePr/>
          <p:nvPr/>
        </p:nvGraphicFramePr>
        <p:xfrm>
          <a:off xmlns:a="http://schemas.openxmlformats.org/drawingml/2006/main" x="609600" y="2400300"/>
          <a:ext xmlns:a="http://schemas.openxmlformats.org/drawingml/2006/main" cx="10972800" cy="3314700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5238750"/>
                <a:gridCol w="2286000"/>
                <a:gridCol w="3448050"/>
              </a:tblGrid>
              <a:tr h="571500">
                <a:tc>
                  <a:txBody>
                    <a:bodyPr lIns="152400" tIns="114300" rIns="114300" bIns="95250"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315C4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用户本轮情境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4DCCF"/>
                      </a:solidFill>
                      <a:prstDash val="solid"/>
                    </a:lnL>
                    <a:lnR w="9525">
                      <a:solidFill>
                        <a:srgbClr val="D4DCCF"/>
                      </a:solidFill>
                      <a:prstDash val="solid"/>
                    </a:lnR>
                    <a:lnT w="9525">
                      <a:solidFill>
                        <a:srgbClr val="D4DCCF"/>
                      </a:solidFill>
                      <a:prstDash val="solid"/>
                    </a:lnT>
                    <a:lnB w="9525">
                      <a:solidFill>
                        <a:srgbClr val="D4DCCF"/>
                      </a:solidFill>
                      <a:prstDash val="solid"/>
                    </a:lnB>
                    <a:solidFill>
                      <a:srgbClr val="E8EDDF"/>
                    </a:solidFill>
                  </a:tcPr>
                </a:tc>
                <a:tc>
                  <a:txBody>
                    <a:bodyPr lIns="152400" tIns="114300" rIns="114300" bIns="95250"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315C4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界面选择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4DCCF"/>
                      </a:solidFill>
                      <a:prstDash val="solid"/>
                    </a:lnR>
                    <a:lnT w="9525">
                      <a:solidFill>
                        <a:srgbClr val="D4DCCF"/>
                      </a:solidFill>
                      <a:prstDash val="solid"/>
                    </a:lnT>
                    <a:lnB w="9525">
                      <a:solidFill>
                        <a:srgbClr val="D4DCCF"/>
                      </a:solidFill>
                      <a:prstDash val="solid"/>
                    </a:lnB>
                    <a:solidFill>
                      <a:srgbClr val="E8EDDF"/>
                    </a:solidFill>
                  </a:tcPr>
                </a:tc>
                <a:tc>
                  <a:txBody>
                    <a:bodyPr lIns="152400" tIns="114300" rIns="114300" bIns="95250"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315C4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实际策略与原因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4DCCF"/>
                      </a:solidFill>
                      <a:prstDash val="solid"/>
                    </a:lnR>
                    <a:lnT w="9525">
                      <a:solidFill>
                        <a:srgbClr val="D4DCCF"/>
                      </a:solidFill>
                      <a:prstDash val="solid"/>
                    </a:lnT>
                    <a:lnB w="9525">
                      <a:solidFill>
                        <a:srgbClr val="D4DCCF"/>
                      </a:solidFill>
                      <a:prstDash val="solid"/>
                    </a:lnB>
                    <a:solidFill>
                      <a:srgbClr val="E8EDDF"/>
                    </a:solidFill>
                  </a:tcPr>
                </a:tc>
              </a:tr>
              <a:tr h="914400">
                <a:tc>
                  <a:txBody>
                    <a:bodyPr lIns="152400" tIns="114300" rIns="114300" bIns="95250"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263B3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想理清专业选择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4DCCF"/>
                      </a:solidFill>
                      <a:prstDash val="solid"/>
                    </a:lnL>
                    <a:lnR w="9525">
                      <a:solidFill>
                        <a:srgbClr val="D4DCCF"/>
                      </a:solidFill>
                      <a:prstDash val="solid"/>
                    </a:lnR>
                    <a:lnB w="9525">
                      <a:solidFill>
                        <a:srgbClr val="D4DCCF"/>
                      </a:solidFill>
                      <a:prstDash val="solid"/>
                    </a:lnB>
                    <a:solidFill>
                      <a:srgbClr val="F7F6F0"/>
                    </a:solidFill>
                  </a:tcPr>
                </a:tc>
                <a:tc>
                  <a:txBody>
                    <a:bodyPr lIns="152400" tIns="114300" rIns="114300" bIns="95250"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263B3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理清思绪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4DCCF"/>
                      </a:solidFill>
                      <a:prstDash val="solid"/>
                    </a:lnR>
                    <a:lnB w="9525">
                      <a:solidFill>
                        <a:srgbClr val="D4DCCF"/>
                      </a:solidFill>
                      <a:prstDash val="solid"/>
                    </a:lnB>
                    <a:solidFill>
                      <a:srgbClr val="F7F6F0"/>
                    </a:solidFill>
                  </a:tcPr>
                </a:tc>
                <a:tc>
                  <a:txBody>
                    <a:bodyPr lIns="152400" tIns="114300" rIns="114300" bIns="95250"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263B3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澄清｜整理事实与需求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4DCCF"/>
                      </a:solidFill>
                      <a:prstDash val="solid"/>
                    </a:lnR>
                    <a:lnB w="9525">
                      <a:solidFill>
                        <a:srgbClr val="D4DCCF"/>
                      </a:solidFill>
                      <a:prstDash val="solid"/>
                    </a:lnB>
                    <a:solidFill>
                      <a:srgbClr val="F7F6F0"/>
                    </a:solidFill>
                  </a:tcPr>
                </a:tc>
              </a:tr>
              <a:tr h="914400">
                <a:tc>
                  <a:txBody>
                    <a:bodyPr lIns="152400" tIns="114300" rIns="114300" bIns="95250"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263B3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明确拒绝建议或和解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4DCCF"/>
                      </a:solidFill>
                      <a:prstDash val="solid"/>
                    </a:lnL>
                    <a:lnR w="9525">
                      <a:solidFill>
                        <a:srgbClr val="D4DCCF"/>
                      </a:solidFill>
                      <a:prstDash val="solid"/>
                    </a:lnR>
                    <a:lnB w="9525">
                      <a:solidFill>
                        <a:srgbClr val="D4DCCF"/>
                      </a:solidFill>
                      <a:prstDash val="solid"/>
                    </a:lnB>
                    <a:solidFill>
                      <a:srgbClr val="F7F6F0"/>
                    </a:solidFill>
                  </a:tcPr>
                </a:tc>
                <a:tc>
                  <a:txBody>
                    <a:bodyPr lIns="152400" tIns="114300" rIns="114300" bIns="95250"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263B3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准备表达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4DCCF"/>
                      </a:solidFill>
                      <a:prstDash val="solid"/>
                    </a:lnR>
                    <a:lnB w="9525">
                      <a:solidFill>
                        <a:srgbClr val="D4DCCF"/>
                      </a:solidFill>
                      <a:prstDash val="solid"/>
                    </a:lnB>
                    <a:solidFill>
                      <a:srgbClr val="F7F6F0"/>
                    </a:solidFill>
                  </a:tcPr>
                </a:tc>
                <a:tc>
                  <a:txBody>
                    <a:bodyPr lIns="152400" tIns="114300" rIns="114300" bIns="95250"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263B3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倾听｜本轮拒绝优先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4DCCF"/>
                      </a:solidFill>
                      <a:prstDash val="solid"/>
                    </a:lnR>
                    <a:lnB w="9525">
                      <a:solidFill>
                        <a:srgbClr val="D4DCCF"/>
                      </a:solidFill>
                      <a:prstDash val="solid"/>
                    </a:lnB>
                    <a:solidFill>
                      <a:srgbClr val="F7F6F0"/>
                    </a:solidFill>
                  </a:tcPr>
                </a:tc>
              </a:tr>
              <a:tr h="914400">
                <a:tc>
                  <a:txBody>
                    <a:bodyPr lIns="152400" tIns="114300" rIns="114300" bIns="95250"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263B3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出现家庭不安全线索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4DCCF"/>
                      </a:solidFill>
                      <a:prstDash val="solid"/>
                    </a:lnL>
                    <a:lnR w="9525">
                      <a:solidFill>
                        <a:srgbClr val="D4DCCF"/>
                      </a:solidFill>
                      <a:prstDash val="solid"/>
                    </a:lnR>
                    <a:lnB w="9525">
                      <a:solidFill>
                        <a:srgbClr val="D4DCCF"/>
                      </a:solidFill>
                      <a:prstDash val="solid"/>
                    </a:lnB>
                    <a:solidFill>
                      <a:srgbClr val="F7F6F0"/>
                    </a:solidFill>
                  </a:tcPr>
                </a:tc>
                <a:tc>
                  <a:txBody>
                    <a:bodyPr lIns="152400" tIns="114300" rIns="114300" bIns="95250"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263B3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准备表达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4DCCF"/>
                      </a:solidFill>
                      <a:prstDash val="solid"/>
                    </a:lnR>
                    <a:lnB w="9525">
                      <a:solidFill>
                        <a:srgbClr val="D4DCCF"/>
                      </a:solidFill>
                      <a:prstDash val="solid"/>
                    </a:lnB>
                    <a:solidFill>
                      <a:srgbClr val="F7F6F0"/>
                    </a:solidFill>
                  </a:tcPr>
                </a:tc>
                <a:tc>
                  <a:txBody>
                    <a:bodyPr lIns="152400" tIns="114300" rIns="114300" bIns="95250"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263B3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倾听｜限制沟通草稿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4DCCF"/>
                      </a:solidFill>
                      <a:prstDash val="solid"/>
                    </a:lnR>
                    <a:lnB w="9525">
                      <a:solidFill>
                        <a:srgbClr val="D4DCCF"/>
                      </a:solidFill>
                      <a:prstDash val="solid"/>
                    </a:lnB>
                    <a:solidFill>
                      <a:srgbClr val="F7F6F0"/>
                    </a:solidFill>
                  </a:tcPr>
                </a:tc>
              </a:tr>
            </a:tbl>
          </a:graphicData>
        </a:graphic>
      </p:graphicFrame>
      <p:sp>
        <p:nvSpPr>
          <p:cNvPr id="28" name="对小林：先尊重“不想和解”，再决定哪些回应可以生成。">
            <a:extLst xmlns:a="http://schemas.openxmlformats.org/drawingml/2006/main">
              <a:ext uri="{FF2B5EF4-FFF2-40B4-BE49-F238E27FC236}">
                <a16:creationId xmlns:a16="http://schemas.microsoft.com/office/drawing/2014/main" id="{1CFB0C35-DDC4-4BD7-B6A7-82201ABB35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43600"/>
            <a:ext cx="10972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025" b="0">
                <a:solidFill>
                  <a:srgbClr val="315C4D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025" b="0">
                <a:solidFill>
                  <a:srgbClr val="315C4D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025" b="0">
                <a:solidFill>
                  <a:srgbClr val="315C4D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025" b="0">
                <a:solidFill>
                  <a:srgbClr val="315C4D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025" b="0">
                <a:solidFill>
                  <a:srgbClr val="315C4D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025" b="0">
                <a:solidFill>
                  <a:srgbClr val="315C4D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025" b="0">
                <a:solidFill>
                  <a:srgbClr val="315C4D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025" b="0">
                <a:solidFill>
                  <a:srgbClr val="315C4D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025" b="0">
                <a:solidFill>
                  <a:srgbClr val="315C4D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025" b="0">
                <a:solidFill>
                  <a:srgbClr val="315C4D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315C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315C4D"/>
                </a:solidFill>
                <a:latin typeface="Microsoft YaHei"/>
                <a:ea typeface="Microsoft YaHei"/>
                <a:cs typeface="Microsoft YaHei"/>
              </a:rPr>
              <a:t>对小林：先尊重“不想和解”，再决定哪些回应可以生成。</a:t>
            </a:r>
          </a:p>
        </p:txBody>
      </p:sp>
    </p:spTree>
    <p:extLst>
      <p:ext uri="{BB962C8B-B14F-4D97-AF65-F5344CB8AC3E}">
        <p14:creationId xmlns:p14="http://schemas.microsoft.com/office/powerpoint/2010/main" val="1845356498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7F6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04  /  C-CARE 技术路径">
            <a:extLst xmlns:a="http://schemas.openxmlformats.org/drawingml/2006/main">
              <a:ext uri="{FF2B5EF4-FFF2-40B4-BE49-F238E27FC236}">
                <a16:creationId xmlns:a16="http://schemas.microsoft.com/office/drawing/2014/main" id="{6292E93A-53CD-4EC5-8021-2BB08B34F7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9525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650" b="1">
                <a:solidFill>
                  <a:srgbClr val="315C4D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buNone/>
              <a:defRPr sz="1650" b="1">
                <a:solidFill>
                  <a:srgbClr val="315C4D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buNone/>
              <a:defRPr sz="1650" b="1">
                <a:solidFill>
                  <a:srgbClr val="315C4D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buNone/>
              <a:defRPr sz="1650" b="1">
                <a:solidFill>
                  <a:srgbClr val="315C4D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buNone/>
              <a:defRPr sz="1650" b="1">
                <a:solidFill>
                  <a:srgbClr val="315C4D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buNone/>
              <a:defRPr sz="1650" b="1">
                <a:solidFill>
                  <a:srgbClr val="315C4D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buNone/>
              <a:defRPr sz="1650" b="1">
                <a:solidFill>
                  <a:srgbClr val="315C4D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buNone/>
              <a:defRPr sz="1650" b="1">
                <a:solidFill>
                  <a:srgbClr val="315C4D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buNone/>
              <a:defRPr sz="1650" b="1">
                <a:solidFill>
                  <a:srgbClr val="315C4D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buNone/>
              <a:defRPr sz="1650" b="1">
                <a:solidFill>
                  <a:srgbClr val="315C4D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buNone/>
              <a:defRPr sz="1650" b="1">
                <a:solidFill>
                  <a:srgbClr val="315C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315C4D"/>
                </a:solidFill>
                <a:latin typeface="Microsoft YaHei"/>
                <a:ea typeface="Microsoft YaHei"/>
                <a:cs typeface="Microsoft YaHei"/>
              </a:rPr>
              <a:t>04  /  C-CARE 如何作出决定</a:t>
            </a:r>
          </a:p>
        </p:txBody>
      </p:sp>
      <p:sp>
        <p:nvSpPr>
          <p:cNvPr id="2" name="让策略选择先经过约束，再生成回应。">
            <a:extLst xmlns:a="http://schemas.openxmlformats.org/drawingml/2006/main">
              <a:ext uri="{FF2B5EF4-FFF2-40B4-BE49-F238E27FC236}">
                <a16:creationId xmlns:a16="http://schemas.microsoft.com/office/drawing/2014/main" id="{774FCAC0-0FBB-469E-BD0E-0B195D7BC4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47725"/>
            <a:ext cx="11049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300" b="1">
                <a:solidFill>
                  <a:srgbClr val="263B32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buNone/>
              <a:defRPr sz="3300" b="1">
                <a:solidFill>
                  <a:srgbClr val="263B32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buNone/>
              <a:defRPr sz="3300" b="1">
                <a:solidFill>
                  <a:srgbClr val="263B32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buNone/>
              <a:defRPr sz="3300" b="1">
                <a:solidFill>
                  <a:srgbClr val="263B32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buNone/>
              <a:defRPr sz="3300" b="1">
                <a:solidFill>
                  <a:srgbClr val="263B32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buNone/>
              <a:defRPr sz="3300" b="1">
                <a:solidFill>
                  <a:srgbClr val="263B32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buNone/>
              <a:defRPr sz="3300" b="1">
                <a:solidFill>
                  <a:srgbClr val="263B32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buNone/>
              <a:defRPr sz="3300" b="1">
                <a:solidFill>
                  <a:srgbClr val="263B32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buNone/>
              <a:defRPr sz="3300" b="1">
                <a:solidFill>
                  <a:srgbClr val="263B32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buNone/>
              <a:defRPr sz="3300" b="1">
                <a:solidFill>
                  <a:srgbClr val="263B32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buNone/>
              <a:defRPr sz="3300" b="1">
                <a:solidFill>
                  <a:srgbClr val="263B3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263B32"/>
                </a:solidFill>
                <a:latin typeface="Microsoft YaHei"/>
                <a:ea typeface="Microsoft YaHei"/>
                <a:cs typeface="Microsoft YaHei"/>
              </a:rPr>
              <a:t>先约束策略，再生成与检查回应。</a:t>
            </a:r>
          </a:p>
        </p:txBody>
      </p:sp>
      <p:sp>
        <p:nvSpPr>
          <p:cNvPr id="3" name="远程路径已编码并经模拟测试；本次示例未执行模型估计与校验">
            <a:extLst xmlns:a="http://schemas.openxmlformats.org/drawingml/2006/main">
              <a:ext uri="{FF2B5EF4-FFF2-40B4-BE49-F238E27FC236}">
                <a16:creationId xmlns:a16="http://schemas.microsoft.com/office/drawing/2014/main" id="{FBA99973-7D7B-4718-91E0-1B6C52782C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28775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950" b="0">
                <a:solidFill>
                  <a:srgbClr val="637368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buNone/>
              <a:defRPr sz="1950" b="0">
                <a:solidFill>
                  <a:srgbClr val="637368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buNone/>
              <a:defRPr sz="1950" b="0">
                <a:solidFill>
                  <a:srgbClr val="637368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buNone/>
              <a:defRPr sz="1950" b="0">
                <a:solidFill>
                  <a:srgbClr val="637368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buNone/>
              <a:defRPr sz="1950" b="0">
                <a:solidFill>
                  <a:srgbClr val="637368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buNone/>
              <a:defRPr sz="1950" b="0">
                <a:solidFill>
                  <a:srgbClr val="637368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buNone/>
              <a:defRPr sz="1950" b="0">
                <a:solidFill>
                  <a:srgbClr val="637368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buNone/>
              <a:defRPr sz="1950" b="0">
                <a:solidFill>
                  <a:srgbClr val="637368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buNone/>
              <a:defRPr sz="1950" b="0">
                <a:solidFill>
                  <a:srgbClr val="637368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buNone/>
              <a:defRPr sz="1950" b="0">
                <a:solidFill>
                  <a:srgbClr val="63736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buNone/>
              <a:defRPr sz="1950" b="0">
                <a:solidFill>
                  <a:srgbClr val="6373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637368"/>
                </a:solidFill>
                <a:latin typeface="Microsoft YaHei"/>
                <a:ea typeface="Microsoft YaHei"/>
                <a:cs typeface="Microsoft YaHei"/>
              </a:rPr>
              <a:t>预设 DeepSeek deepseek-flash（非思考）；模型路径仅经模拟测试。</a:t>
            </a:r>
          </a:p>
        </p:txBody>
      </p:sp>
      <p:sp>
        <p:nvSpPr>
          <p:cNvPr id="4" name="KinVoice  /  内部答辩演示 · 2026.1">
            <a:extLst xmlns:a="http://schemas.openxmlformats.org/drawingml/2006/main">
              <a:ext uri="{FF2B5EF4-FFF2-40B4-BE49-F238E27FC236}">
                <a16:creationId xmlns:a16="http://schemas.microsoft.com/office/drawing/2014/main" id="{3FFD2469-4398-44FE-BEEF-CC0A2D34CB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48425"/>
            <a:ext cx="9620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350" b="0">
                <a:solidFill>
                  <a:srgbClr val="637368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buNone/>
              <a:defRPr sz="1350" b="0">
                <a:solidFill>
                  <a:srgbClr val="637368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buNone/>
              <a:defRPr sz="1350" b="0">
                <a:solidFill>
                  <a:srgbClr val="637368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buNone/>
              <a:defRPr sz="1350" b="0">
                <a:solidFill>
                  <a:srgbClr val="637368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buNone/>
              <a:defRPr sz="1350" b="0">
                <a:solidFill>
                  <a:srgbClr val="637368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buNone/>
              <a:defRPr sz="1350" b="0">
                <a:solidFill>
                  <a:srgbClr val="637368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buNone/>
              <a:defRPr sz="1350" b="0">
                <a:solidFill>
                  <a:srgbClr val="637368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buNone/>
              <a:defRPr sz="1350" b="0">
                <a:solidFill>
                  <a:srgbClr val="637368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buNone/>
              <a:defRPr sz="1350" b="0">
                <a:solidFill>
                  <a:srgbClr val="637368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buNone/>
              <a:defRPr sz="1350" b="0">
                <a:solidFill>
                  <a:srgbClr val="63736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buNone/>
              <a:defRPr sz="1350" b="0">
                <a:solidFill>
                  <a:srgbClr val="6373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37368"/>
                </a:solidFill>
                <a:latin typeface="Microsoft YaHei"/>
                <a:ea typeface="Microsoft YaHei"/>
                <a:cs typeface="Microsoft YaHei"/>
              </a:rPr>
              <a:t>KinVoice  /  内部答辩演示 · v0.5 · 2026.10</a:t>
            </a:r>
          </a:p>
        </p:txBody>
      </p:sp>
      <p:sp>
        <p:nvSpPr>
          <p:cNvPr id="5" name="05">
            <a:extLst xmlns:a="http://schemas.openxmlformats.org/drawingml/2006/main">
              <a:ext uri="{FF2B5EF4-FFF2-40B4-BE49-F238E27FC236}">
                <a16:creationId xmlns:a16="http://schemas.microsoft.com/office/drawing/2014/main" id="{77E2F4D1-F7F4-4D73-9D2A-99EC635168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77575" y="6419850"/>
            <a:ext cx="5048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500" b="1">
                <a:solidFill>
                  <a:srgbClr val="315C4D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buNone/>
              <a:defRPr sz="1500" b="1">
                <a:solidFill>
                  <a:srgbClr val="315C4D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buNone/>
              <a:defRPr sz="1500" b="1">
                <a:solidFill>
                  <a:srgbClr val="315C4D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buNone/>
              <a:defRPr sz="1500" b="1">
                <a:solidFill>
                  <a:srgbClr val="315C4D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buNone/>
              <a:defRPr sz="1500" b="1">
                <a:solidFill>
                  <a:srgbClr val="315C4D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buNone/>
              <a:defRPr sz="1500" b="1">
                <a:solidFill>
                  <a:srgbClr val="315C4D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buNone/>
              <a:defRPr sz="1500" b="1">
                <a:solidFill>
                  <a:srgbClr val="315C4D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buNone/>
              <a:defRPr sz="1500" b="1">
                <a:solidFill>
                  <a:srgbClr val="315C4D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buNone/>
              <a:defRPr sz="1500" b="1">
                <a:solidFill>
                  <a:srgbClr val="315C4D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buNone/>
              <a:defRPr sz="1500" b="1">
                <a:solidFill>
                  <a:srgbClr val="315C4D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buNone/>
              <a:defRPr sz="1500" b="1">
                <a:solidFill>
                  <a:srgbClr val="315C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315C4D"/>
                </a:solidFill>
                <a:latin typeface="Microsoft YaHei"/>
                <a:ea typeface="Microsoft YaHei"/>
                <a:cs typeface="Microsoft YaHei"/>
              </a:rPr>
              <a:t>05</a:t>
            </a:r>
          </a:p>
        </p:txBody>
      </p:sp>
      <p:sp>
        <p:nvSpPr>
          <p:cNvPr id="6" name="01">
            <a:extLst xmlns:a="http://schemas.openxmlformats.org/drawingml/2006/main">
              <a:ext uri="{FF2B5EF4-FFF2-40B4-BE49-F238E27FC236}">
                <a16:creationId xmlns:a16="http://schemas.microsoft.com/office/drawing/2014/main" id="{5550AD71-5BCE-47A7-ACE7-F924115295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19375"/>
            <a:ext cx="23336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250" b="0">
                <a:solidFill>
                  <a:srgbClr val="637368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buNone/>
              <a:defRPr sz="2250" b="0">
                <a:solidFill>
                  <a:srgbClr val="637368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buNone/>
              <a:defRPr sz="2250" b="0">
                <a:solidFill>
                  <a:srgbClr val="637368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buNone/>
              <a:defRPr sz="2250" b="0">
                <a:solidFill>
                  <a:srgbClr val="637368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buNone/>
              <a:defRPr sz="2250" b="0">
                <a:solidFill>
                  <a:srgbClr val="637368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buNone/>
              <a:defRPr sz="2250" b="0">
                <a:solidFill>
                  <a:srgbClr val="637368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buNone/>
              <a:defRPr sz="2250" b="0">
                <a:solidFill>
                  <a:srgbClr val="637368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buNone/>
              <a:defRPr sz="2250" b="0">
                <a:solidFill>
                  <a:srgbClr val="637368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buNone/>
              <a:defRPr sz="2250" b="0">
                <a:solidFill>
                  <a:srgbClr val="637368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buNone/>
              <a:defRPr sz="2250" b="0">
                <a:solidFill>
                  <a:srgbClr val="63736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buNone/>
              <a:defRPr sz="2250" b="0">
                <a:solidFill>
                  <a:srgbClr val="6373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637368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7" name="估计状态">
            <a:extLst xmlns:a="http://schemas.openxmlformats.org/drawingml/2006/main">
              <a:ext uri="{FF2B5EF4-FFF2-40B4-BE49-F238E27FC236}">
                <a16:creationId xmlns:a16="http://schemas.microsoft.com/office/drawing/2014/main" id="{05083D2B-3169-463F-B0AE-00F3D8515E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67075"/>
            <a:ext cx="238125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700" b="1">
                <a:solidFill>
                  <a:srgbClr val="315C4D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buNone/>
              <a:defRPr sz="2700" b="1">
                <a:solidFill>
                  <a:srgbClr val="315C4D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buNone/>
              <a:defRPr sz="2700" b="1">
                <a:solidFill>
                  <a:srgbClr val="315C4D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buNone/>
              <a:defRPr sz="2700" b="1">
                <a:solidFill>
                  <a:srgbClr val="315C4D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buNone/>
              <a:defRPr sz="2700" b="1">
                <a:solidFill>
                  <a:srgbClr val="315C4D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buNone/>
              <a:defRPr sz="2700" b="1">
                <a:solidFill>
                  <a:srgbClr val="315C4D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buNone/>
              <a:defRPr sz="2700" b="1">
                <a:solidFill>
                  <a:srgbClr val="315C4D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buNone/>
              <a:defRPr sz="2700" b="1">
                <a:solidFill>
                  <a:srgbClr val="315C4D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buNone/>
              <a:defRPr sz="2700" b="1">
                <a:solidFill>
                  <a:srgbClr val="315C4D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buNone/>
              <a:defRPr sz="2700" b="1">
                <a:solidFill>
                  <a:srgbClr val="315C4D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buNone/>
              <a:defRPr sz="2700" b="1">
                <a:solidFill>
                  <a:srgbClr val="315C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315C4D"/>
                </a:solidFill>
                <a:latin typeface="Microsoft YaHei"/>
                <a:ea typeface="Microsoft YaHei"/>
                <a:cs typeface="Microsoft YaHei"/>
              </a:rPr>
              <a:t>估计状态</a:t>
            </a:r>
          </a:p>
        </p:txBody>
      </p:sp>
      <p:sp>
        <p:nvSpPr>
          <p:cNvPr id="8" name="情绪、风险、家庭线索&#10;保留未知与原话证据">
            <a:extLst xmlns:a="http://schemas.openxmlformats.org/drawingml/2006/main">
              <a:ext uri="{FF2B5EF4-FFF2-40B4-BE49-F238E27FC236}">
                <a16:creationId xmlns:a16="http://schemas.microsoft.com/office/drawing/2014/main" id="{8EB57867-3C1F-4ED9-ADB0-C619A11771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19550"/>
            <a:ext cx="24193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75" b="0">
                <a:solidFill>
                  <a:srgbClr val="263B32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buNone/>
              <a:defRPr sz="1875" b="0">
                <a:solidFill>
                  <a:srgbClr val="263B32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buNone/>
              <a:defRPr sz="1875" b="0">
                <a:solidFill>
                  <a:srgbClr val="263B32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buNone/>
              <a:defRPr sz="1875" b="0">
                <a:solidFill>
                  <a:srgbClr val="263B32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buNone/>
              <a:defRPr sz="1875" b="0">
                <a:solidFill>
                  <a:srgbClr val="263B32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buNone/>
              <a:defRPr sz="1875" b="0">
                <a:solidFill>
                  <a:srgbClr val="263B32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buNone/>
              <a:defRPr sz="1875" b="0">
                <a:solidFill>
                  <a:srgbClr val="263B32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buNone/>
              <a:defRPr sz="1875" b="0">
                <a:solidFill>
                  <a:srgbClr val="263B32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buNone/>
              <a:defRPr sz="1875" b="0">
                <a:solidFill>
                  <a:srgbClr val="263B32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buNone/>
              <a:defRPr sz="1875" b="0">
                <a:solidFill>
                  <a:srgbClr val="263B32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buNone/>
              <a:defRPr sz="1875" b="0">
                <a:solidFill>
                  <a:srgbClr val="263B3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263B32"/>
                </a:solidFill>
                <a:latin typeface="Microsoft YaHei"/>
                <a:ea typeface="Microsoft YaHei"/>
                <a:cs typeface="Microsoft YaHei"/>
              </a:rPr>
              <a:t>情绪、风险、家庭线索</a:t>
            </a:r>
          </a:p>
          <a:p xmlns:a="http://schemas.openxmlformats.org/drawingml/2006/main">
            <a:pPr>
              <a:buNone/>
              <a:defRPr sz="1875" b="0">
                <a:solidFill>
                  <a:srgbClr val="263B3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263B32"/>
                </a:solidFill>
                <a:latin typeface="Microsoft YaHei"/>
                <a:ea typeface="Microsoft YaHei"/>
                <a:cs typeface="Microsoft YaHei"/>
              </a:rPr>
              <a:t>原话定位，保留未知</a:t>
            </a:r>
          </a:p>
        </p:txBody>
      </p:sp>
      <p:sp>
        <p:nvSpPr>
          <p:cNvPr id="9" name="→">
            <a:extLst xmlns:a="http://schemas.openxmlformats.org/drawingml/2006/main">
              <a:ext uri="{FF2B5EF4-FFF2-40B4-BE49-F238E27FC236}">
                <a16:creationId xmlns:a16="http://schemas.microsoft.com/office/drawing/2014/main" id="{43E37BA4-8A27-45D2-88C7-9F062C55D9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3314700"/>
            <a:ext cx="3810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637368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buNone/>
              <a:defRPr sz="2325" b="0">
                <a:solidFill>
                  <a:srgbClr val="637368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buNone/>
              <a:defRPr sz="2325" b="0">
                <a:solidFill>
                  <a:srgbClr val="637368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buNone/>
              <a:defRPr sz="2325" b="0">
                <a:solidFill>
                  <a:srgbClr val="637368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buNone/>
              <a:defRPr sz="2325" b="0">
                <a:solidFill>
                  <a:srgbClr val="637368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buNone/>
              <a:defRPr sz="2325" b="0">
                <a:solidFill>
                  <a:srgbClr val="637368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buNone/>
              <a:defRPr sz="2325" b="0">
                <a:solidFill>
                  <a:srgbClr val="637368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buNone/>
              <a:defRPr sz="2325" b="0">
                <a:solidFill>
                  <a:srgbClr val="637368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buNone/>
              <a:defRPr sz="2325" b="0">
                <a:solidFill>
                  <a:srgbClr val="637368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buNone/>
              <a:defRPr sz="2325" b="0">
                <a:solidFill>
                  <a:srgbClr val="63736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buNone/>
              <a:defRPr sz="2325" b="0">
                <a:solidFill>
                  <a:srgbClr val="6373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637368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10" name="02">
            <a:extLst xmlns:a="http://schemas.openxmlformats.org/drawingml/2006/main">
              <a:ext uri="{FF2B5EF4-FFF2-40B4-BE49-F238E27FC236}">
                <a16:creationId xmlns:a16="http://schemas.microsoft.com/office/drawing/2014/main" id="{3DB23C1D-AE6B-4A9F-B82C-754543BD13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2619375"/>
            <a:ext cx="23336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250" b="0">
                <a:solidFill>
                  <a:srgbClr val="637368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buNone/>
              <a:defRPr sz="2250" b="0">
                <a:solidFill>
                  <a:srgbClr val="637368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buNone/>
              <a:defRPr sz="2250" b="0">
                <a:solidFill>
                  <a:srgbClr val="637368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buNone/>
              <a:defRPr sz="2250" b="0">
                <a:solidFill>
                  <a:srgbClr val="637368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buNone/>
              <a:defRPr sz="2250" b="0">
                <a:solidFill>
                  <a:srgbClr val="637368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buNone/>
              <a:defRPr sz="2250" b="0">
                <a:solidFill>
                  <a:srgbClr val="637368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buNone/>
              <a:defRPr sz="2250" b="0">
                <a:solidFill>
                  <a:srgbClr val="637368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buNone/>
              <a:defRPr sz="2250" b="0">
                <a:solidFill>
                  <a:srgbClr val="637368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buNone/>
              <a:defRPr sz="2250" b="0">
                <a:solidFill>
                  <a:srgbClr val="637368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buNone/>
              <a:defRPr sz="2250" b="0">
                <a:solidFill>
                  <a:srgbClr val="63736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buNone/>
              <a:defRPr sz="2250" b="0">
                <a:solidFill>
                  <a:srgbClr val="6373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637368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11" name="约束策略">
            <a:extLst xmlns:a="http://schemas.openxmlformats.org/drawingml/2006/main">
              <a:ext uri="{FF2B5EF4-FFF2-40B4-BE49-F238E27FC236}">
                <a16:creationId xmlns:a16="http://schemas.microsoft.com/office/drawing/2014/main" id="{560D1CA7-9620-429F-88C6-F6377EEE56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3267075"/>
            <a:ext cx="238125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700" b="1">
                <a:solidFill>
                  <a:srgbClr val="315C4D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buNone/>
              <a:defRPr sz="2700" b="1">
                <a:solidFill>
                  <a:srgbClr val="315C4D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buNone/>
              <a:defRPr sz="2700" b="1">
                <a:solidFill>
                  <a:srgbClr val="315C4D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buNone/>
              <a:defRPr sz="2700" b="1">
                <a:solidFill>
                  <a:srgbClr val="315C4D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buNone/>
              <a:defRPr sz="2700" b="1">
                <a:solidFill>
                  <a:srgbClr val="315C4D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buNone/>
              <a:defRPr sz="2700" b="1">
                <a:solidFill>
                  <a:srgbClr val="315C4D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buNone/>
              <a:defRPr sz="2700" b="1">
                <a:solidFill>
                  <a:srgbClr val="315C4D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buNone/>
              <a:defRPr sz="2700" b="1">
                <a:solidFill>
                  <a:srgbClr val="315C4D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buNone/>
              <a:defRPr sz="2700" b="1">
                <a:solidFill>
                  <a:srgbClr val="315C4D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buNone/>
              <a:defRPr sz="2700" b="1">
                <a:solidFill>
                  <a:srgbClr val="315C4D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buNone/>
              <a:defRPr sz="2700" b="1">
                <a:solidFill>
                  <a:srgbClr val="315C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315C4D"/>
                </a:solidFill>
                <a:latin typeface="Microsoft YaHei"/>
                <a:ea typeface="Microsoft YaHei"/>
                <a:cs typeface="Microsoft YaHei"/>
              </a:rPr>
              <a:t>约束策略</a:t>
            </a:r>
          </a:p>
        </p:txBody>
      </p:sp>
      <p:sp>
        <p:nvSpPr>
          <p:cNvPr id="12" name="用户拒绝优先&#10;不安全时限制草稿">
            <a:extLst xmlns:a="http://schemas.openxmlformats.org/drawingml/2006/main">
              <a:ext uri="{FF2B5EF4-FFF2-40B4-BE49-F238E27FC236}">
                <a16:creationId xmlns:a16="http://schemas.microsoft.com/office/drawing/2014/main" id="{EE55C318-D323-4242-811D-1EE1DF3550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4019550"/>
            <a:ext cx="24193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75" b="0">
                <a:solidFill>
                  <a:srgbClr val="263B32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buNone/>
              <a:defRPr sz="1875" b="0">
                <a:solidFill>
                  <a:srgbClr val="263B32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buNone/>
              <a:defRPr sz="1875" b="0">
                <a:solidFill>
                  <a:srgbClr val="263B32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buNone/>
              <a:defRPr sz="1875" b="0">
                <a:solidFill>
                  <a:srgbClr val="263B32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buNone/>
              <a:defRPr sz="1875" b="0">
                <a:solidFill>
                  <a:srgbClr val="263B32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buNone/>
              <a:defRPr sz="1875" b="0">
                <a:solidFill>
                  <a:srgbClr val="263B32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buNone/>
              <a:defRPr sz="1875" b="0">
                <a:solidFill>
                  <a:srgbClr val="263B32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buNone/>
              <a:defRPr sz="1875" b="0">
                <a:solidFill>
                  <a:srgbClr val="263B32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buNone/>
              <a:defRPr sz="1875" b="0">
                <a:solidFill>
                  <a:srgbClr val="263B32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buNone/>
              <a:defRPr sz="1875" b="0">
                <a:solidFill>
                  <a:srgbClr val="263B32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buNone/>
              <a:defRPr sz="1875" b="0">
                <a:solidFill>
                  <a:srgbClr val="263B3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263B32"/>
                </a:solidFill>
                <a:latin typeface="Microsoft YaHei"/>
                <a:ea typeface="Microsoft YaHei"/>
                <a:cs typeface="Microsoft YaHei"/>
              </a:rPr>
              <a:t>用户拒绝优先</a:t>
            </a:r>
          </a:p>
          <a:p xmlns:a="http://schemas.openxmlformats.org/drawingml/2006/main">
            <a:pPr>
              <a:buNone/>
              <a:defRPr sz="1875" b="0">
                <a:solidFill>
                  <a:srgbClr val="263B3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263B32"/>
                </a:solidFill>
                <a:latin typeface="Microsoft YaHei"/>
                <a:ea typeface="Microsoft YaHei"/>
                <a:cs typeface="Microsoft YaHei"/>
              </a:rPr>
              <a:t>不安全时限制草稿</a:t>
            </a:r>
          </a:p>
        </p:txBody>
      </p:sp>
      <p:sp>
        <p:nvSpPr>
          <p:cNvPr id="13" name="→">
            <a:extLst xmlns:a="http://schemas.openxmlformats.org/drawingml/2006/main">
              <a:ext uri="{FF2B5EF4-FFF2-40B4-BE49-F238E27FC236}">
                <a16:creationId xmlns:a16="http://schemas.microsoft.com/office/drawing/2014/main" id="{E729C3E3-D93D-41C2-98A6-4FEB1B45B3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3314700"/>
            <a:ext cx="3810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637368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buNone/>
              <a:defRPr sz="2325" b="0">
                <a:solidFill>
                  <a:srgbClr val="637368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buNone/>
              <a:defRPr sz="2325" b="0">
                <a:solidFill>
                  <a:srgbClr val="637368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buNone/>
              <a:defRPr sz="2325" b="0">
                <a:solidFill>
                  <a:srgbClr val="637368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buNone/>
              <a:defRPr sz="2325" b="0">
                <a:solidFill>
                  <a:srgbClr val="637368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buNone/>
              <a:defRPr sz="2325" b="0">
                <a:solidFill>
                  <a:srgbClr val="637368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buNone/>
              <a:defRPr sz="2325" b="0">
                <a:solidFill>
                  <a:srgbClr val="637368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buNone/>
              <a:defRPr sz="2325" b="0">
                <a:solidFill>
                  <a:srgbClr val="637368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buNone/>
              <a:defRPr sz="2325" b="0">
                <a:solidFill>
                  <a:srgbClr val="637368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buNone/>
              <a:defRPr sz="2325" b="0">
                <a:solidFill>
                  <a:srgbClr val="63736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buNone/>
              <a:defRPr sz="2325" b="0">
                <a:solidFill>
                  <a:srgbClr val="6373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637368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14" name="03">
            <a:extLst xmlns:a="http://schemas.openxmlformats.org/drawingml/2006/main">
              <a:ext uri="{FF2B5EF4-FFF2-40B4-BE49-F238E27FC236}">
                <a16:creationId xmlns:a16="http://schemas.microsoft.com/office/drawing/2014/main" id="{7558462A-997A-46A3-84C2-0472871211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2619375"/>
            <a:ext cx="23336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250" b="0">
                <a:solidFill>
                  <a:srgbClr val="637368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buNone/>
              <a:defRPr sz="2250" b="0">
                <a:solidFill>
                  <a:srgbClr val="637368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buNone/>
              <a:defRPr sz="2250" b="0">
                <a:solidFill>
                  <a:srgbClr val="637368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buNone/>
              <a:defRPr sz="2250" b="0">
                <a:solidFill>
                  <a:srgbClr val="637368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buNone/>
              <a:defRPr sz="2250" b="0">
                <a:solidFill>
                  <a:srgbClr val="637368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buNone/>
              <a:defRPr sz="2250" b="0">
                <a:solidFill>
                  <a:srgbClr val="637368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buNone/>
              <a:defRPr sz="2250" b="0">
                <a:solidFill>
                  <a:srgbClr val="637368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buNone/>
              <a:defRPr sz="2250" b="0">
                <a:solidFill>
                  <a:srgbClr val="637368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buNone/>
              <a:defRPr sz="2250" b="0">
                <a:solidFill>
                  <a:srgbClr val="637368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buNone/>
              <a:defRPr sz="2250" b="0">
                <a:solidFill>
                  <a:srgbClr val="63736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buNone/>
              <a:defRPr sz="2250" b="0">
                <a:solidFill>
                  <a:srgbClr val="6373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637368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15" name="生成回应">
            <a:extLst xmlns:a="http://schemas.openxmlformats.org/drawingml/2006/main">
              <a:ext uri="{FF2B5EF4-FFF2-40B4-BE49-F238E27FC236}">
                <a16:creationId xmlns:a16="http://schemas.microsoft.com/office/drawing/2014/main" id="{DF68929D-D82B-4B8B-92D6-02020AE1AF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3267075"/>
            <a:ext cx="238125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700" b="1">
                <a:solidFill>
                  <a:srgbClr val="315C4D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buNone/>
              <a:defRPr sz="2700" b="1">
                <a:solidFill>
                  <a:srgbClr val="315C4D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buNone/>
              <a:defRPr sz="2700" b="1">
                <a:solidFill>
                  <a:srgbClr val="315C4D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buNone/>
              <a:defRPr sz="2700" b="1">
                <a:solidFill>
                  <a:srgbClr val="315C4D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buNone/>
              <a:defRPr sz="2700" b="1">
                <a:solidFill>
                  <a:srgbClr val="315C4D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buNone/>
              <a:defRPr sz="2700" b="1">
                <a:solidFill>
                  <a:srgbClr val="315C4D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buNone/>
              <a:defRPr sz="2700" b="1">
                <a:solidFill>
                  <a:srgbClr val="315C4D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buNone/>
              <a:defRPr sz="2700" b="1">
                <a:solidFill>
                  <a:srgbClr val="315C4D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buNone/>
              <a:defRPr sz="2700" b="1">
                <a:solidFill>
                  <a:srgbClr val="315C4D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buNone/>
              <a:defRPr sz="2700" b="1">
                <a:solidFill>
                  <a:srgbClr val="315C4D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buNone/>
              <a:defRPr sz="2700" b="1">
                <a:solidFill>
                  <a:srgbClr val="315C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315C4D"/>
                </a:solidFill>
                <a:latin typeface="Microsoft YaHei"/>
                <a:ea typeface="Microsoft YaHei"/>
                <a:cs typeface="Microsoft YaHei"/>
              </a:rPr>
              <a:t>生成回应</a:t>
            </a:r>
          </a:p>
        </p:txBody>
      </p:sp>
      <p:sp>
        <p:nvSpPr>
          <p:cNvPr id="16" name="按策略生成短回应&#10;禁止诊断和强迫和解">
            <a:extLst xmlns:a="http://schemas.openxmlformats.org/drawingml/2006/main">
              <a:ext uri="{FF2B5EF4-FFF2-40B4-BE49-F238E27FC236}">
                <a16:creationId xmlns:a16="http://schemas.microsoft.com/office/drawing/2014/main" id="{84F05E27-9D49-4237-B7A7-FFAA42A2CD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4019550"/>
            <a:ext cx="24193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75" b="0">
                <a:solidFill>
                  <a:srgbClr val="263B32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buNone/>
              <a:defRPr sz="1875" b="0">
                <a:solidFill>
                  <a:srgbClr val="263B32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buNone/>
              <a:defRPr sz="1875" b="0">
                <a:solidFill>
                  <a:srgbClr val="263B32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buNone/>
              <a:defRPr sz="1875" b="0">
                <a:solidFill>
                  <a:srgbClr val="263B32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buNone/>
              <a:defRPr sz="1875" b="0">
                <a:solidFill>
                  <a:srgbClr val="263B32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buNone/>
              <a:defRPr sz="1875" b="0">
                <a:solidFill>
                  <a:srgbClr val="263B32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buNone/>
              <a:defRPr sz="1875" b="0">
                <a:solidFill>
                  <a:srgbClr val="263B32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buNone/>
              <a:defRPr sz="1875" b="0">
                <a:solidFill>
                  <a:srgbClr val="263B32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buNone/>
              <a:defRPr sz="1875" b="0">
                <a:solidFill>
                  <a:srgbClr val="263B32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buNone/>
              <a:defRPr sz="1875" b="0">
                <a:solidFill>
                  <a:srgbClr val="263B32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buNone/>
              <a:defRPr sz="1875" b="0">
                <a:solidFill>
                  <a:srgbClr val="263B3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263B32"/>
                </a:solidFill>
                <a:latin typeface="Microsoft YaHei"/>
                <a:ea typeface="Microsoft YaHei"/>
                <a:cs typeface="Microsoft YaHei"/>
              </a:rPr>
              <a:t>按策略生成短回应</a:t>
            </a:r>
          </a:p>
          <a:p xmlns:a="http://schemas.openxmlformats.org/drawingml/2006/main">
            <a:pPr>
              <a:buNone/>
              <a:defRPr sz="1875" b="0">
                <a:solidFill>
                  <a:srgbClr val="263B3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263B32"/>
                </a:solidFill>
                <a:latin typeface="Microsoft YaHei"/>
                <a:ea typeface="Microsoft YaHei"/>
                <a:cs typeface="Microsoft YaHei"/>
              </a:rPr>
              <a:t>禁止诊断和强迫和解</a:t>
            </a:r>
          </a:p>
        </p:txBody>
      </p:sp>
      <p:sp>
        <p:nvSpPr>
          <p:cNvPr id="17" name="→">
            <a:extLst xmlns:a="http://schemas.openxmlformats.org/drawingml/2006/main">
              <a:ext uri="{FF2B5EF4-FFF2-40B4-BE49-F238E27FC236}">
                <a16:creationId xmlns:a16="http://schemas.microsoft.com/office/drawing/2014/main" id="{B0FF4529-06A5-426D-8A98-2360CF6B51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3314700"/>
            <a:ext cx="3810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637368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buNone/>
              <a:defRPr sz="2325" b="0">
                <a:solidFill>
                  <a:srgbClr val="637368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buNone/>
              <a:defRPr sz="2325" b="0">
                <a:solidFill>
                  <a:srgbClr val="637368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buNone/>
              <a:defRPr sz="2325" b="0">
                <a:solidFill>
                  <a:srgbClr val="637368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buNone/>
              <a:defRPr sz="2325" b="0">
                <a:solidFill>
                  <a:srgbClr val="637368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buNone/>
              <a:defRPr sz="2325" b="0">
                <a:solidFill>
                  <a:srgbClr val="637368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buNone/>
              <a:defRPr sz="2325" b="0">
                <a:solidFill>
                  <a:srgbClr val="637368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buNone/>
              <a:defRPr sz="2325" b="0">
                <a:solidFill>
                  <a:srgbClr val="637368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buNone/>
              <a:defRPr sz="2325" b="0">
                <a:solidFill>
                  <a:srgbClr val="637368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buNone/>
              <a:defRPr sz="2325" b="0">
                <a:solidFill>
                  <a:srgbClr val="63736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buNone/>
              <a:defRPr sz="2325" b="0">
                <a:solidFill>
                  <a:srgbClr val="6373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637368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18" name="04">
            <a:extLst xmlns:a="http://schemas.openxmlformats.org/drawingml/2006/main">
              <a:ext uri="{FF2B5EF4-FFF2-40B4-BE49-F238E27FC236}">
                <a16:creationId xmlns:a16="http://schemas.microsoft.com/office/drawing/2014/main" id="{D52265DC-88F0-483F-B6D0-18D946E09B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2619375"/>
            <a:ext cx="23336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250" b="0">
                <a:solidFill>
                  <a:srgbClr val="637368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buNone/>
              <a:defRPr sz="2250" b="0">
                <a:solidFill>
                  <a:srgbClr val="637368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buNone/>
              <a:defRPr sz="2250" b="0">
                <a:solidFill>
                  <a:srgbClr val="637368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buNone/>
              <a:defRPr sz="2250" b="0">
                <a:solidFill>
                  <a:srgbClr val="637368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buNone/>
              <a:defRPr sz="2250" b="0">
                <a:solidFill>
                  <a:srgbClr val="637368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buNone/>
              <a:defRPr sz="2250" b="0">
                <a:solidFill>
                  <a:srgbClr val="637368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buNone/>
              <a:defRPr sz="2250" b="0">
                <a:solidFill>
                  <a:srgbClr val="637368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buNone/>
              <a:defRPr sz="2250" b="0">
                <a:solidFill>
                  <a:srgbClr val="637368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buNone/>
              <a:defRPr sz="2250" b="0">
                <a:solidFill>
                  <a:srgbClr val="637368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buNone/>
              <a:defRPr sz="2250" b="0">
                <a:solidFill>
                  <a:srgbClr val="63736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buNone/>
              <a:defRPr sz="2250" b="0">
                <a:solidFill>
                  <a:srgbClr val="6373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637368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19" name="校验与退回">
            <a:extLst xmlns:a="http://schemas.openxmlformats.org/drawingml/2006/main">
              <a:ext uri="{FF2B5EF4-FFF2-40B4-BE49-F238E27FC236}">
                <a16:creationId xmlns:a16="http://schemas.microsoft.com/office/drawing/2014/main" id="{61C930C0-312E-4897-8938-59E5791B03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3267075"/>
            <a:ext cx="238125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700" b="1">
                <a:solidFill>
                  <a:srgbClr val="315C4D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buNone/>
              <a:defRPr sz="2700" b="1">
                <a:solidFill>
                  <a:srgbClr val="315C4D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buNone/>
              <a:defRPr sz="2700" b="1">
                <a:solidFill>
                  <a:srgbClr val="315C4D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buNone/>
              <a:defRPr sz="2700" b="1">
                <a:solidFill>
                  <a:srgbClr val="315C4D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buNone/>
              <a:defRPr sz="2700" b="1">
                <a:solidFill>
                  <a:srgbClr val="315C4D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buNone/>
              <a:defRPr sz="2700" b="1">
                <a:solidFill>
                  <a:srgbClr val="315C4D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buNone/>
              <a:defRPr sz="2700" b="1">
                <a:solidFill>
                  <a:srgbClr val="315C4D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buNone/>
              <a:defRPr sz="2700" b="1">
                <a:solidFill>
                  <a:srgbClr val="315C4D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buNone/>
              <a:defRPr sz="2700" b="1">
                <a:solidFill>
                  <a:srgbClr val="315C4D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buNone/>
              <a:defRPr sz="2700" b="1">
                <a:solidFill>
                  <a:srgbClr val="315C4D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buNone/>
              <a:defRPr sz="2700" b="1">
                <a:solidFill>
                  <a:srgbClr val="315C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315C4D"/>
                </a:solidFill>
                <a:latin typeface="Microsoft YaHei"/>
                <a:ea typeface="Microsoft YaHei"/>
                <a:cs typeface="Microsoft YaHei"/>
              </a:rPr>
              <a:t>校验与退回</a:t>
            </a:r>
          </a:p>
        </p:txBody>
      </p:sp>
      <p:sp>
        <p:nvSpPr>
          <p:cNvPr id="20" name="规则 + 模型检查&#10;未通过则重写或退回">
            <a:extLst xmlns:a="http://schemas.openxmlformats.org/drawingml/2006/main">
              <a:ext uri="{FF2B5EF4-FFF2-40B4-BE49-F238E27FC236}">
                <a16:creationId xmlns:a16="http://schemas.microsoft.com/office/drawing/2014/main" id="{92138084-6444-4E39-88C5-2DAB2F450D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4019550"/>
            <a:ext cx="24193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75" b="0">
                <a:solidFill>
                  <a:srgbClr val="263B32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buNone/>
              <a:defRPr sz="1875" b="0">
                <a:solidFill>
                  <a:srgbClr val="263B32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buNone/>
              <a:defRPr sz="1875" b="0">
                <a:solidFill>
                  <a:srgbClr val="263B32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buNone/>
              <a:defRPr sz="1875" b="0">
                <a:solidFill>
                  <a:srgbClr val="263B32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buNone/>
              <a:defRPr sz="1875" b="0">
                <a:solidFill>
                  <a:srgbClr val="263B32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buNone/>
              <a:defRPr sz="1875" b="0">
                <a:solidFill>
                  <a:srgbClr val="263B32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buNone/>
              <a:defRPr sz="1875" b="0">
                <a:solidFill>
                  <a:srgbClr val="263B32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buNone/>
              <a:defRPr sz="1875" b="0">
                <a:solidFill>
                  <a:srgbClr val="263B32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buNone/>
              <a:defRPr sz="1875" b="0">
                <a:solidFill>
                  <a:srgbClr val="263B32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buNone/>
              <a:defRPr sz="1875" b="0">
                <a:solidFill>
                  <a:srgbClr val="263B32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buNone/>
              <a:defRPr sz="1875" b="0">
                <a:solidFill>
                  <a:srgbClr val="263B3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263B32"/>
                </a:solidFill>
                <a:latin typeface="Microsoft YaHei"/>
                <a:ea typeface="Microsoft YaHei"/>
                <a:cs typeface="Microsoft YaHei"/>
              </a:rPr>
              <a:t>规则 + 模型检查</a:t>
            </a:r>
          </a:p>
          <a:p xmlns:a="http://schemas.openxmlformats.org/drawingml/2006/main">
            <a:pPr>
              <a:buNone/>
              <a:defRPr sz="1875" b="0">
                <a:solidFill>
                  <a:srgbClr val="263B3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263B32"/>
                </a:solidFill>
                <a:latin typeface="Microsoft YaHei"/>
                <a:ea typeface="Microsoft YaHei"/>
                <a:cs typeface="Microsoft YaHei"/>
              </a:rPr>
              <a:t>检查后发布或固定退回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8397B00-7195-4369-A2CC-E105197246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721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DCCF"/>
          </a:solidFill>
          <a:ln xmlns:a="http://schemas.openxmlformats.org/drawingml/2006/main" w="0">
            <a:noFill/>
          </a:ln>
        </p:spPr>
      </p:sp>
      <p:sp>
        <p:nvSpPr>
          <p:cNvPr id="22" name="贯穿全程：用户可暂停、拒绝与清空；无自动代发、无默认家庭">
            <a:extLst xmlns:a="http://schemas.openxmlformats.org/drawingml/2006/main">
              <a:ext uri="{FF2B5EF4-FFF2-40B4-BE49-F238E27FC236}">
                <a16:creationId xmlns:a16="http://schemas.microsoft.com/office/drawing/2014/main" id="{320E00EF-B29D-4442-9418-7337DBEBE7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67375"/>
            <a:ext cx="10953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00" b="1">
                <a:solidFill>
                  <a:srgbClr val="315C4D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buNone/>
              <a:defRPr sz="2100" b="1">
                <a:solidFill>
                  <a:srgbClr val="315C4D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buNone/>
              <a:defRPr sz="2100" b="1">
                <a:solidFill>
                  <a:srgbClr val="315C4D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buNone/>
              <a:defRPr sz="2100" b="1">
                <a:solidFill>
                  <a:srgbClr val="315C4D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buNone/>
              <a:defRPr sz="2100" b="1">
                <a:solidFill>
                  <a:srgbClr val="315C4D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buNone/>
              <a:defRPr sz="2100" b="1">
                <a:solidFill>
                  <a:srgbClr val="315C4D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buNone/>
              <a:defRPr sz="2100" b="1">
                <a:solidFill>
                  <a:srgbClr val="315C4D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buNone/>
              <a:defRPr sz="2100" b="1">
                <a:solidFill>
                  <a:srgbClr val="315C4D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buNone/>
              <a:defRPr sz="2100" b="1">
                <a:solidFill>
                  <a:srgbClr val="315C4D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buNone/>
              <a:defRPr sz="2100" b="1">
                <a:solidFill>
                  <a:srgbClr val="315C4D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buNone/>
              <a:defRPr sz="2100" b="1">
                <a:solidFill>
                  <a:srgbClr val="315C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315C4D"/>
                </a:solidFill>
                <a:latin typeface="Microsoft YaHei"/>
                <a:ea typeface="Microsoft YaHei"/>
                <a:cs typeface="Microsoft YaHei"/>
              </a:rPr>
              <a:t>远程常规路径 3 次调用，最多 5 次；紧急线索可提前走固定模板。</a:t>
            </a:r>
          </a:p>
        </p:txBody>
      </p:sp>
    </p:spTree>
    <p:extLst>
      <p:ext uri="{BB962C8B-B14F-4D97-AF65-F5344CB8AC3E}">
        <p14:creationId xmlns:p14="http://schemas.microsoft.com/office/powerpoint/2010/main" val="2068446870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7F6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05  /  研究定位">
            <a:extLst xmlns:a="http://schemas.openxmlformats.org/drawingml/2006/main">
              <a:ext uri="{FF2B5EF4-FFF2-40B4-BE49-F238E27FC236}">
                <a16:creationId xmlns:a16="http://schemas.microsoft.com/office/drawing/2014/main" id="{72BCFA0D-89FA-4B77-BDDA-79B93D15F4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9525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650" b="1">
                <a:solidFill>
                  <a:srgbClr val="315C4D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buNone/>
              <a:defRPr sz="1650" b="1">
                <a:solidFill>
                  <a:srgbClr val="315C4D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buNone/>
              <a:defRPr sz="1650" b="1">
                <a:solidFill>
                  <a:srgbClr val="315C4D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buNone/>
              <a:defRPr sz="1650" b="1">
                <a:solidFill>
                  <a:srgbClr val="315C4D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buNone/>
              <a:defRPr sz="1650" b="1">
                <a:solidFill>
                  <a:srgbClr val="315C4D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buNone/>
              <a:defRPr sz="1650" b="1">
                <a:solidFill>
                  <a:srgbClr val="315C4D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buNone/>
              <a:defRPr sz="1650" b="1">
                <a:solidFill>
                  <a:srgbClr val="315C4D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buNone/>
              <a:defRPr sz="1650" b="1">
                <a:solidFill>
                  <a:srgbClr val="315C4D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buNone/>
              <a:defRPr sz="1650" b="1">
                <a:solidFill>
                  <a:srgbClr val="315C4D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buNone/>
              <a:defRPr sz="1650" b="1">
                <a:solidFill>
                  <a:srgbClr val="315C4D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buNone/>
              <a:defRPr sz="1650" b="1">
                <a:solidFill>
                  <a:srgbClr val="315C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315C4D"/>
                </a:solidFill>
                <a:latin typeface="Microsoft YaHei"/>
                <a:ea typeface="Microsoft YaHei"/>
                <a:cs typeface="Microsoft YaHei"/>
              </a:rPr>
              <a:t>05  /  待验证的技术创新主张</a:t>
            </a:r>
          </a:p>
        </p:txBody>
      </p:sp>
      <p:sp>
        <p:nvSpPr>
          <p:cNvPr id="2" name="把创新主张落到能检查的策略约束上。">
            <a:extLst xmlns:a="http://schemas.openxmlformats.org/drawingml/2006/main">
              <a:ext uri="{FF2B5EF4-FFF2-40B4-BE49-F238E27FC236}">
                <a16:creationId xmlns:a16="http://schemas.microsoft.com/office/drawing/2014/main" id="{9D69F7F4-5472-43CF-B45D-4D10252E5C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47725"/>
            <a:ext cx="11049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300" b="1">
                <a:solidFill>
                  <a:srgbClr val="263B32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buNone/>
              <a:defRPr sz="3300" b="1">
                <a:solidFill>
                  <a:srgbClr val="263B32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buNone/>
              <a:defRPr sz="3300" b="1">
                <a:solidFill>
                  <a:srgbClr val="263B32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buNone/>
              <a:defRPr sz="3300" b="1">
                <a:solidFill>
                  <a:srgbClr val="263B32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buNone/>
              <a:defRPr sz="3300" b="1">
                <a:solidFill>
                  <a:srgbClr val="263B32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buNone/>
              <a:defRPr sz="3300" b="1">
                <a:solidFill>
                  <a:srgbClr val="263B32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buNone/>
              <a:defRPr sz="3300" b="1">
                <a:solidFill>
                  <a:srgbClr val="263B32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buNone/>
              <a:defRPr sz="3300" b="1">
                <a:solidFill>
                  <a:srgbClr val="263B32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buNone/>
              <a:defRPr sz="3300" b="1">
                <a:solidFill>
                  <a:srgbClr val="263B32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buNone/>
              <a:defRPr sz="3300" b="1">
                <a:solidFill>
                  <a:srgbClr val="263B32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buNone/>
              <a:defRPr sz="3300" b="1">
                <a:solidFill>
                  <a:srgbClr val="263B3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263B32"/>
                </a:solidFill>
                <a:latin typeface="Microsoft YaHei"/>
                <a:ea typeface="Microsoft YaHei"/>
                <a:cs typeface="Microsoft YaHei"/>
              </a:rPr>
              <a:t>把原话、用户意愿和安全边界连到策略上。</a:t>
            </a:r>
          </a:p>
        </p:txBody>
      </p:sp>
      <p:sp>
        <p:nvSpPr>
          <p:cNvPr id="3" name="已有工作覆盖策略、意图和情感安全；组合机制仍需对照验证。">
            <a:extLst xmlns:a="http://schemas.openxmlformats.org/drawingml/2006/main">
              <a:ext uri="{FF2B5EF4-FFF2-40B4-BE49-F238E27FC236}">
                <a16:creationId xmlns:a16="http://schemas.microsoft.com/office/drawing/2014/main" id="{97395F6A-6B46-43FD-BB02-C05A18DD00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28775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950" b="0">
                <a:solidFill>
                  <a:srgbClr val="637368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buNone/>
              <a:defRPr sz="1950" b="0">
                <a:solidFill>
                  <a:srgbClr val="637368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buNone/>
              <a:defRPr sz="1950" b="0">
                <a:solidFill>
                  <a:srgbClr val="637368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buNone/>
              <a:defRPr sz="1950" b="0">
                <a:solidFill>
                  <a:srgbClr val="637368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buNone/>
              <a:defRPr sz="1950" b="0">
                <a:solidFill>
                  <a:srgbClr val="637368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buNone/>
              <a:defRPr sz="1950" b="0">
                <a:solidFill>
                  <a:srgbClr val="637368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buNone/>
              <a:defRPr sz="1950" b="0">
                <a:solidFill>
                  <a:srgbClr val="637368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buNone/>
              <a:defRPr sz="1950" b="0">
                <a:solidFill>
                  <a:srgbClr val="637368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buNone/>
              <a:defRPr sz="1950" b="0">
                <a:solidFill>
                  <a:srgbClr val="637368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buNone/>
              <a:defRPr sz="1950" b="0">
                <a:solidFill>
                  <a:srgbClr val="63736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buNone/>
              <a:defRPr sz="1950" b="0">
                <a:solidFill>
                  <a:srgbClr val="6373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637368"/>
                </a:solidFill>
                <a:latin typeface="Microsoft YaHei"/>
                <a:ea typeface="Microsoft YaHei"/>
                <a:cs typeface="Microsoft YaHei"/>
              </a:rPr>
              <a:t>核心候选：证据绑定的亲子冲突支持策略控制；效果与新颖性仍需验证。</a:t>
            </a:r>
          </a:p>
        </p:txBody>
      </p:sp>
      <p:sp>
        <p:nvSpPr>
          <p:cNvPr id="4" name="KinVoice  /  内部答辩演示 · 2026.1">
            <a:extLst xmlns:a="http://schemas.openxmlformats.org/drawingml/2006/main">
              <a:ext uri="{FF2B5EF4-FFF2-40B4-BE49-F238E27FC236}">
                <a16:creationId xmlns:a16="http://schemas.microsoft.com/office/drawing/2014/main" id="{63FAD567-56A9-4264-8CCA-8194E988A7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48425"/>
            <a:ext cx="9620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350" b="0">
                <a:solidFill>
                  <a:srgbClr val="637368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buNone/>
              <a:defRPr sz="1350" b="0">
                <a:solidFill>
                  <a:srgbClr val="637368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buNone/>
              <a:defRPr sz="1350" b="0">
                <a:solidFill>
                  <a:srgbClr val="637368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buNone/>
              <a:defRPr sz="1350" b="0">
                <a:solidFill>
                  <a:srgbClr val="637368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buNone/>
              <a:defRPr sz="1350" b="0">
                <a:solidFill>
                  <a:srgbClr val="637368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buNone/>
              <a:defRPr sz="1350" b="0">
                <a:solidFill>
                  <a:srgbClr val="637368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buNone/>
              <a:defRPr sz="1350" b="0">
                <a:solidFill>
                  <a:srgbClr val="637368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buNone/>
              <a:defRPr sz="1350" b="0">
                <a:solidFill>
                  <a:srgbClr val="637368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buNone/>
              <a:defRPr sz="1350" b="0">
                <a:solidFill>
                  <a:srgbClr val="637368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buNone/>
              <a:defRPr sz="1350" b="0">
                <a:solidFill>
                  <a:srgbClr val="63736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buNone/>
              <a:defRPr sz="1350" b="0">
                <a:solidFill>
                  <a:srgbClr val="6373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37368"/>
                </a:solidFill>
                <a:latin typeface="Microsoft YaHei"/>
                <a:ea typeface="Microsoft YaHei"/>
                <a:cs typeface="Microsoft YaHei"/>
              </a:rPr>
              <a:t>KinVoice  /  内部答辩演示 · v0.5 · 2026.10</a:t>
            </a:r>
          </a:p>
        </p:txBody>
      </p:sp>
      <p:sp>
        <p:nvSpPr>
          <p:cNvPr id="5" name="06">
            <a:extLst xmlns:a="http://schemas.openxmlformats.org/drawingml/2006/main">
              <a:ext uri="{FF2B5EF4-FFF2-40B4-BE49-F238E27FC236}">
                <a16:creationId xmlns:a16="http://schemas.microsoft.com/office/drawing/2014/main" id="{8DB697E2-63DC-48F9-82E6-A9D4DA1B08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77575" y="6419850"/>
            <a:ext cx="5048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500" b="1">
                <a:solidFill>
                  <a:srgbClr val="315C4D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buNone/>
              <a:defRPr sz="1500" b="1">
                <a:solidFill>
                  <a:srgbClr val="315C4D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buNone/>
              <a:defRPr sz="1500" b="1">
                <a:solidFill>
                  <a:srgbClr val="315C4D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buNone/>
              <a:defRPr sz="1500" b="1">
                <a:solidFill>
                  <a:srgbClr val="315C4D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buNone/>
              <a:defRPr sz="1500" b="1">
                <a:solidFill>
                  <a:srgbClr val="315C4D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buNone/>
              <a:defRPr sz="1500" b="1">
                <a:solidFill>
                  <a:srgbClr val="315C4D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buNone/>
              <a:defRPr sz="1500" b="1">
                <a:solidFill>
                  <a:srgbClr val="315C4D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buNone/>
              <a:defRPr sz="1500" b="1">
                <a:solidFill>
                  <a:srgbClr val="315C4D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buNone/>
              <a:defRPr sz="1500" b="1">
                <a:solidFill>
                  <a:srgbClr val="315C4D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buNone/>
              <a:defRPr sz="1500" b="1">
                <a:solidFill>
                  <a:srgbClr val="315C4D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buNone/>
              <a:defRPr sz="1500" b="1">
                <a:solidFill>
                  <a:srgbClr val="315C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315C4D"/>
                </a:solidFill>
                <a:latin typeface="Microsoft YaHei"/>
                <a:ea typeface="Microsoft YaHei"/>
                <a:cs typeface="Microsoft YaHei"/>
              </a:rPr>
              <a:t>06</a:t>
            </a:r>
          </a:p>
        </p:txBody>
      </p:sp>
      <p:sp>
        <p:nvSpPr>
          <p:cNvPr id="13" name="机制设计">
            <a:extLst xmlns:a="http://schemas.openxmlformats.org/drawingml/2006/main">
              <a:ext uri="{FF2B5EF4-FFF2-40B4-BE49-F238E27FC236}">
                <a16:creationId xmlns:a16="http://schemas.microsoft.com/office/drawing/2014/main" id="{B8D1D189-4455-43E8-87FC-DB9BD85895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05075"/>
            <a:ext cx="3333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637368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650" b="0">
                <a:solidFill>
                  <a:srgbClr val="637368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650" b="0">
                <a:solidFill>
                  <a:srgbClr val="637368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650" b="0">
                <a:solidFill>
                  <a:srgbClr val="637368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650" b="0">
                <a:solidFill>
                  <a:srgbClr val="637368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650" b="0">
                <a:solidFill>
                  <a:srgbClr val="637368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650" b="0">
                <a:solidFill>
                  <a:srgbClr val="637368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650" b="0">
                <a:solidFill>
                  <a:srgbClr val="637368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650" b="0">
                <a:solidFill>
                  <a:srgbClr val="637368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650" b="0">
                <a:solidFill>
                  <a:srgbClr val="63736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6373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637368"/>
                </a:solidFill>
                <a:latin typeface="Microsoft YaHei"/>
                <a:ea typeface="Microsoft YaHei"/>
                <a:cs typeface="Microsoft YaHei"/>
              </a:rPr>
              <a:t>机制设计</a:t>
            </a:r>
          </a:p>
        </p:txBody>
      </p:sp>
      <p:sp>
        <p:nvSpPr>
          <p:cNvPr id="14" name="证据能定位">
            <a:extLst xmlns:a="http://schemas.openxmlformats.org/drawingml/2006/main">
              <a:ext uri="{FF2B5EF4-FFF2-40B4-BE49-F238E27FC236}">
                <a16:creationId xmlns:a16="http://schemas.microsoft.com/office/drawing/2014/main" id="{2BF61E9C-FF4F-4F97-9926-5602B81AD3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81325"/>
            <a:ext cx="3333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700" b="1">
                <a:solidFill>
                  <a:srgbClr val="315C4D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700" b="1">
                <a:solidFill>
                  <a:srgbClr val="315C4D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700" b="1">
                <a:solidFill>
                  <a:srgbClr val="315C4D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700" b="1">
                <a:solidFill>
                  <a:srgbClr val="315C4D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700" b="1">
                <a:solidFill>
                  <a:srgbClr val="315C4D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700" b="1">
                <a:solidFill>
                  <a:srgbClr val="315C4D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700" b="1">
                <a:solidFill>
                  <a:srgbClr val="315C4D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700" b="1">
                <a:solidFill>
                  <a:srgbClr val="315C4D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700" b="1">
                <a:solidFill>
                  <a:srgbClr val="315C4D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700" b="1">
                <a:solidFill>
                  <a:srgbClr val="315C4D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700" b="1">
                <a:solidFill>
                  <a:srgbClr val="315C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315C4D"/>
                </a:solidFill>
                <a:latin typeface="Microsoft YaHei"/>
                <a:ea typeface="Microsoft YaHei"/>
                <a:cs typeface="Microsoft YaHei"/>
              </a:rPr>
              <a:t>证据能定位</a:t>
            </a:r>
          </a:p>
        </p:txBody>
      </p:sp>
      <p:sp>
        <p:nvSpPr>
          <p:cNvPr id="15" name="判断绑定用户原话&#10;区分当前与历史来源&#10;拒绝无出处的判断">
            <a:extLst xmlns:a="http://schemas.openxmlformats.org/drawingml/2006/main">
              <a:ext uri="{FF2B5EF4-FFF2-40B4-BE49-F238E27FC236}">
                <a16:creationId xmlns:a16="http://schemas.microsoft.com/office/drawing/2014/main" id="{F140508D-5A36-4428-83E8-9F6CEA3B77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14750"/>
            <a:ext cx="337185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025" b="0">
                <a:solidFill>
                  <a:srgbClr val="263B32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025" b="0">
                <a:solidFill>
                  <a:srgbClr val="263B32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025" b="0">
                <a:solidFill>
                  <a:srgbClr val="263B32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025" b="0">
                <a:solidFill>
                  <a:srgbClr val="263B32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025" b="0">
                <a:solidFill>
                  <a:srgbClr val="263B32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025" b="0">
                <a:solidFill>
                  <a:srgbClr val="263B32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025" b="0">
                <a:solidFill>
                  <a:srgbClr val="263B32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025" b="0">
                <a:solidFill>
                  <a:srgbClr val="263B32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025" b="0">
                <a:solidFill>
                  <a:srgbClr val="263B32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025" b="0">
                <a:solidFill>
                  <a:srgbClr val="263B32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263B3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263B32"/>
                </a:solidFill>
                <a:latin typeface="Microsoft YaHei"/>
                <a:ea typeface="Microsoft YaHei"/>
                <a:cs typeface="Microsoft YaHei"/>
              </a:rPr>
              <a:t>判断绑定用户原话</a:t>
            </a:r>
          </a:p>
          <a:p xmlns:a="http://schemas.openxmlformats.org/drawingml/2006/main">
            <a:pPr>
              <a:defRPr sz="2025" b="0">
                <a:solidFill>
                  <a:srgbClr val="263B3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263B32"/>
                </a:solidFill>
                <a:latin typeface="Microsoft YaHei"/>
                <a:ea typeface="Microsoft YaHei"/>
                <a:cs typeface="Microsoft YaHei"/>
              </a:rPr>
              <a:t>区分当前与历史来源</a:t>
            </a:r>
          </a:p>
          <a:p xmlns:a="http://schemas.openxmlformats.org/drawingml/2006/main">
            <a:pPr>
              <a:defRPr sz="2025" b="0">
                <a:solidFill>
                  <a:srgbClr val="263B3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263B32"/>
                </a:solidFill>
                <a:latin typeface="Microsoft YaHei"/>
                <a:ea typeface="Microsoft YaHei"/>
                <a:cs typeface="Microsoft YaHei"/>
              </a:rPr>
              <a:t>拒绝无出处的判断</a:t>
            </a:r>
          </a:p>
        </p:txBody>
      </p:sp>
      <p:sp>
        <p:nvSpPr>
          <p:cNvPr id="16" name="机制设计">
            <a:extLst xmlns:a="http://schemas.openxmlformats.org/drawingml/2006/main">
              <a:ext uri="{FF2B5EF4-FFF2-40B4-BE49-F238E27FC236}">
                <a16:creationId xmlns:a16="http://schemas.microsoft.com/office/drawing/2014/main" id="{C6F94891-520C-4923-803A-D9C910974B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2505075"/>
            <a:ext cx="3333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637368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650" b="0">
                <a:solidFill>
                  <a:srgbClr val="637368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650" b="0">
                <a:solidFill>
                  <a:srgbClr val="637368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650" b="0">
                <a:solidFill>
                  <a:srgbClr val="637368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650" b="0">
                <a:solidFill>
                  <a:srgbClr val="637368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650" b="0">
                <a:solidFill>
                  <a:srgbClr val="637368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650" b="0">
                <a:solidFill>
                  <a:srgbClr val="637368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650" b="0">
                <a:solidFill>
                  <a:srgbClr val="637368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650" b="0">
                <a:solidFill>
                  <a:srgbClr val="637368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650" b="0">
                <a:solidFill>
                  <a:srgbClr val="63736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6373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637368"/>
                </a:solidFill>
                <a:latin typeface="Microsoft YaHei"/>
                <a:ea typeface="Microsoft YaHei"/>
                <a:cs typeface="Microsoft YaHei"/>
              </a:rPr>
              <a:t>机制设计</a:t>
            </a:r>
          </a:p>
        </p:txBody>
      </p:sp>
      <p:sp>
        <p:nvSpPr>
          <p:cNvPr id="17" name="约束可执行">
            <a:extLst xmlns:a="http://schemas.openxmlformats.org/drawingml/2006/main">
              <a:ext uri="{FF2B5EF4-FFF2-40B4-BE49-F238E27FC236}">
                <a16:creationId xmlns:a16="http://schemas.microsoft.com/office/drawing/2014/main" id="{BAC67524-F982-4937-81EB-721A75A174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2981325"/>
            <a:ext cx="3333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700" b="1">
                <a:solidFill>
                  <a:srgbClr val="315C4D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700" b="1">
                <a:solidFill>
                  <a:srgbClr val="315C4D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700" b="1">
                <a:solidFill>
                  <a:srgbClr val="315C4D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700" b="1">
                <a:solidFill>
                  <a:srgbClr val="315C4D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700" b="1">
                <a:solidFill>
                  <a:srgbClr val="315C4D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700" b="1">
                <a:solidFill>
                  <a:srgbClr val="315C4D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700" b="1">
                <a:solidFill>
                  <a:srgbClr val="315C4D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700" b="1">
                <a:solidFill>
                  <a:srgbClr val="315C4D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700" b="1">
                <a:solidFill>
                  <a:srgbClr val="315C4D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700" b="1">
                <a:solidFill>
                  <a:srgbClr val="315C4D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700" b="1">
                <a:solidFill>
                  <a:srgbClr val="315C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315C4D"/>
                </a:solidFill>
                <a:latin typeface="Microsoft YaHei"/>
                <a:ea typeface="Microsoft YaHei"/>
                <a:cs typeface="Microsoft YaHei"/>
              </a:rPr>
              <a:t>约束可执行</a:t>
            </a:r>
          </a:p>
        </p:txBody>
      </p:sp>
      <p:sp>
        <p:nvSpPr>
          <p:cNvPr id="18" name="本轮拒绝优先&#10;家庭不安全时限制草稿&#10;检查候选后再发布">
            <a:extLst xmlns:a="http://schemas.openxmlformats.org/drawingml/2006/main">
              <a:ext uri="{FF2B5EF4-FFF2-40B4-BE49-F238E27FC236}">
                <a16:creationId xmlns:a16="http://schemas.microsoft.com/office/drawing/2014/main" id="{CECB757A-D254-49BE-9160-8AD1ECF53E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3714750"/>
            <a:ext cx="337185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025" b="0">
                <a:solidFill>
                  <a:srgbClr val="263B32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025" b="0">
                <a:solidFill>
                  <a:srgbClr val="263B32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025" b="0">
                <a:solidFill>
                  <a:srgbClr val="263B32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025" b="0">
                <a:solidFill>
                  <a:srgbClr val="263B32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025" b="0">
                <a:solidFill>
                  <a:srgbClr val="263B32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025" b="0">
                <a:solidFill>
                  <a:srgbClr val="263B32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025" b="0">
                <a:solidFill>
                  <a:srgbClr val="263B32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025" b="0">
                <a:solidFill>
                  <a:srgbClr val="263B32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025" b="0">
                <a:solidFill>
                  <a:srgbClr val="263B32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025" b="0">
                <a:solidFill>
                  <a:srgbClr val="263B32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263B3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263B32"/>
                </a:solidFill>
                <a:latin typeface="Microsoft YaHei"/>
                <a:ea typeface="Microsoft YaHei"/>
                <a:cs typeface="Microsoft YaHei"/>
              </a:rPr>
              <a:t>本轮拒绝优先</a:t>
            </a:r>
          </a:p>
          <a:p xmlns:a="http://schemas.openxmlformats.org/drawingml/2006/main">
            <a:pPr>
              <a:defRPr sz="2025" b="0">
                <a:solidFill>
                  <a:srgbClr val="263B3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263B32"/>
                </a:solidFill>
                <a:latin typeface="Microsoft YaHei"/>
                <a:ea typeface="Microsoft YaHei"/>
                <a:cs typeface="Microsoft YaHei"/>
              </a:rPr>
              <a:t>家庭不安全时限制草稿</a:t>
            </a:r>
          </a:p>
          <a:p xmlns:a="http://schemas.openxmlformats.org/drawingml/2006/main">
            <a:pPr>
              <a:defRPr sz="2025" b="0">
                <a:solidFill>
                  <a:srgbClr val="263B3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263B32"/>
                </a:solidFill>
                <a:latin typeface="Microsoft YaHei"/>
                <a:ea typeface="Microsoft YaHei"/>
                <a:cs typeface="Microsoft YaHei"/>
              </a:rPr>
              <a:t>检查候选后再发布</a:t>
            </a:r>
          </a:p>
        </p:txBody>
      </p:sp>
      <p:sp>
        <p:nvSpPr>
          <p:cNvPr id="19" name="验证方法">
            <a:extLst xmlns:a="http://schemas.openxmlformats.org/drawingml/2006/main">
              <a:ext uri="{FF2B5EF4-FFF2-40B4-BE49-F238E27FC236}">
                <a16:creationId xmlns:a16="http://schemas.microsoft.com/office/drawing/2014/main" id="{8A496671-268B-40FE-8B01-54D7822556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2505075"/>
            <a:ext cx="3333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637368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650" b="0">
                <a:solidFill>
                  <a:srgbClr val="637368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650" b="0">
                <a:solidFill>
                  <a:srgbClr val="637368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650" b="0">
                <a:solidFill>
                  <a:srgbClr val="637368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650" b="0">
                <a:solidFill>
                  <a:srgbClr val="637368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650" b="0">
                <a:solidFill>
                  <a:srgbClr val="637368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650" b="0">
                <a:solidFill>
                  <a:srgbClr val="637368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650" b="0">
                <a:solidFill>
                  <a:srgbClr val="637368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650" b="0">
                <a:solidFill>
                  <a:srgbClr val="637368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650" b="0">
                <a:solidFill>
                  <a:srgbClr val="63736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6373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637368"/>
                </a:solidFill>
                <a:latin typeface="Microsoft YaHei"/>
                <a:ea typeface="Microsoft YaHei"/>
                <a:cs typeface="Microsoft YaHei"/>
              </a:rPr>
              <a:t>验证方法</a:t>
            </a:r>
          </a:p>
        </p:txBody>
      </p:sp>
      <p:sp>
        <p:nvSpPr>
          <p:cNvPr id="20" name="变化可检验">
            <a:extLst xmlns:a="http://schemas.openxmlformats.org/drawingml/2006/main">
              <a:ext uri="{FF2B5EF4-FFF2-40B4-BE49-F238E27FC236}">
                <a16:creationId xmlns:a16="http://schemas.microsoft.com/office/drawing/2014/main" id="{3674CEE7-CD38-4D33-BE1E-3F69AC9954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2981325"/>
            <a:ext cx="3333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700" b="1">
                <a:solidFill>
                  <a:srgbClr val="315C4D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700" b="1">
                <a:solidFill>
                  <a:srgbClr val="315C4D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700" b="1">
                <a:solidFill>
                  <a:srgbClr val="315C4D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700" b="1">
                <a:solidFill>
                  <a:srgbClr val="315C4D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700" b="1">
                <a:solidFill>
                  <a:srgbClr val="315C4D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700" b="1">
                <a:solidFill>
                  <a:srgbClr val="315C4D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700" b="1">
                <a:solidFill>
                  <a:srgbClr val="315C4D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700" b="1">
                <a:solidFill>
                  <a:srgbClr val="315C4D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700" b="1">
                <a:solidFill>
                  <a:srgbClr val="315C4D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700" b="1">
                <a:solidFill>
                  <a:srgbClr val="315C4D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700" b="1">
                <a:solidFill>
                  <a:srgbClr val="315C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315C4D"/>
                </a:solidFill>
                <a:latin typeface="Microsoft YaHei"/>
                <a:ea typeface="Microsoft YaHei"/>
                <a:cs typeface="Microsoft YaHei"/>
              </a:rPr>
              <a:t>变化可检验</a:t>
            </a:r>
          </a:p>
        </p:txBody>
      </p:sp>
      <p:sp>
        <p:nvSpPr>
          <p:cNvPr id="21" name="只改意愿或安全线索&#10;检查允许策略是否变化&#10;保留相同背景的">
            <a:extLst xmlns:a="http://schemas.openxmlformats.org/drawingml/2006/main">
              <a:ext uri="{FF2B5EF4-FFF2-40B4-BE49-F238E27FC236}">
                <a16:creationId xmlns:a16="http://schemas.microsoft.com/office/drawing/2014/main" id="{24D3E59A-A404-4E1B-BC60-DBD735B3D0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3714750"/>
            <a:ext cx="337185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025" b="0">
                <a:solidFill>
                  <a:srgbClr val="263B32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025" b="0">
                <a:solidFill>
                  <a:srgbClr val="263B32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025" b="0">
                <a:solidFill>
                  <a:srgbClr val="263B32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025" b="0">
                <a:solidFill>
                  <a:srgbClr val="263B32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025" b="0">
                <a:solidFill>
                  <a:srgbClr val="263B32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025" b="0">
                <a:solidFill>
                  <a:srgbClr val="263B32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025" b="0">
                <a:solidFill>
                  <a:srgbClr val="263B32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025" b="0">
                <a:solidFill>
                  <a:srgbClr val="263B32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025" b="0">
                <a:solidFill>
                  <a:srgbClr val="263B32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025" b="0">
                <a:solidFill>
                  <a:srgbClr val="263B32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263B3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263B32"/>
                </a:solidFill>
                <a:latin typeface="Microsoft YaHei"/>
                <a:ea typeface="Microsoft YaHei"/>
                <a:cs typeface="Microsoft YaHei"/>
              </a:rPr>
              <a:t>只改意愿或安全线索</a:t>
            </a:r>
          </a:p>
          <a:p xmlns:a="http://schemas.openxmlformats.org/drawingml/2006/main">
            <a:pPr>
              <a:defRPr sz="2025" b="0">
                <a:solidFill>
                  <a:srgbClr val="263B3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263B32"/>
                </a:solidFill>
                <a:latin typeface="Microsoft YaHei"/>
                <a:ea typeface="Microsoft YaHei"/>
                <a:cs typeface="Microsoft YaHei"/>
              </a:rPr>
              <a:t>检查允许策略是否变化</a:t>
            </a:r>
          </a:p>
          <a:p xmlns:a="http://schemas.openxmlformats.org/drawingml/2006/main">
            <a:pPr>
              <a:defRPr sz="2025" b="0">
                <a:solidFill>
                  <a:srgbClr val="263B3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263B32"/>
                </a:solidFill>
                <a:latin typeface="Microsoft YaHei"/>
                <a:ea typeface="Microsoft YaHei"/>
                <a:cs typeface="Microsoft YaHei"/>
              </a:rPr>
              <a:t>保留相同背景的对照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AAB5E67-C866-4406-99E8-4BE27F3A4F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959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DCCF"/>
          </a:solidFill>
          <a:ln xmlns:a="http://schemas.openxmlformats.org/drawingml/2006/main" w="0">
            <a:noFill/>
          </a:ln>
        </p:spPr>
      </p:sp>
      <p:sp>
        <p:nvSpPr>
          <p:cNvPr id="23" name="待检验假设：减少不合适建议，同时保留支持有用性。">
            <a:extLst xmlns:a="http://schemas.openxmlformats.org/drawingml/2006/main">
              <a:ext uri="{FF2B5EF4-FFF2-40B4-BE49-F238E27FC236}">
                <a16:creationId xmlns:a16="http://schemas.microsoft.com/office/drawing/2014/main" id="{C067712C-BA09-41F3-801B-95C3389EB3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43550"/>
            <a:ext cx="109728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325" b="1">
                <a:solidFill>
                  <a:srgbClr val="315C4D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315C4D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315C4D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315C4D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315C4D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315C4D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315C4D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315C4D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315C4D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315C4D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315C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315C4D"/>
                </a:solidFill>
                <a:latin typeface="Microsoft YaHei"/>
                <a:ea typeface="Microsoft YaHei"/>
                <a:cs typeface="Microsoft YaHei"/>
              </a:rPr>
              <a:t>待检验假设：减少不合适建议，同时保留支持有用性。</a:t>
            </a:r>
          </a:p>
        </p:txBody>
      </p:sp>
      <p:sp>
        <p:nvSpPr>
          <p:cNvPr id="24" name="原话存在 ≠ 语义正确；策略、意图与情感安全均已有相关研">
            <a:extLst xmlns:a="http://schemas.openxmlformats.org/drawingml/2006/main">
              <a:ext uri="{FF2B5EF4-FFF2-40B4-BE49-F238E27FC236}">
                <a16:creationId xmlns:a16="http://schemas.microsoft.com/office/drawing/2014/main" id="{C8283914-54E0-4389-8A0B-9EA7640B76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19800"/>
            <a:ext cx="10972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637368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650" b="0">
                <a:solidFill>
                  <a:srgbClr val="637368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650" b="0">
                <a:solidFill>
                  <a:srgbClr val="637368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650" b="0">
                <a:solidFill>
                  <a:srgbClr val="637368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650" b="0">
                <a:solidFill>
                  <a:srgbClr val="637368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650" b="0">
                <a:solidFill>
                  <a:srgbClr val="637368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650" b="0">
                <a:solidFill>
                  <a:srgbClr val="637368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650" b="0">
                <a:solidFill>
                  <a:srgbClr val="637368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650" b="0">
                <a:solidFill>
                  <a:srgbClr val="637368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650" b="0">
                <a:solidFill>
                  <a:srgbClr val="63736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6373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637368"/>
                </a:solidFill>
                <a:latin typeface="Microsoft YaHei"/>
                <a:ea typeface="Microsoft YaHei"/>
                <a:cs typeface="Microsoft YaHei"/>
              </a:rPr>
              <a:t>原话存在 ≠ 语义正确；策略、意图与情感安全均已有相关研究。</a:t>
            </a:r>
          </a:p>
        </p:txBody>
      </p:sp>
    </p:spTree>
    <p:extLst>
      <p:ext uri="{BB962C8B-B14F-4D97-AF65-F5344CB8AC3E}">
        <p14:creationId xmlns:p14="http://schemas.microsoft.com/office/powerpoint/2010/main" val="1848708336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7F6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06  /  v0.5 新增功能">
            <a:extLst xmlns:a="http://schemas.openxmlformats.org/drawingml/2006/main">
              <a:ext uri="{FF2B5EF4-FFF2-40B4-BE49-F238E27FC236}">
                <a16:creationId xmlns:a16="http://schemas.microsoft.com/office/drawing/2014/main" id="{0625341B-EA1E-4C4C-A268-597EEAB019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9525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650" b="1">
                <a:solidFill>
                  <a:srgbClr val="315C4D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650" b="1">
                <a:solidFill>
                  <a:srgbClr val="315C4D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650" b="1">
                <a:solidFill>
                  <a:srgbClr val="315C4D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650" b="1">
                <a:solidFill>
                  <a:srgbClr val="315C4D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650" b="1">
                <a:solidFill>
                  <a:srgbClr val="315C4D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650" b="1">
                <a:solidFill>
                  <a:srgbClr val="315C4D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650" b="1">
                <a:solidFill>
                  <a:srgbClr val="315C4D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650" b="1">
                <a:solidFill>
                  <a:srgbClr val="315C4D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650" b="1">
                <a:solidFill>
                  <a:srgbClr val="315C4D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650" b="1">
                <a:solidFill>
                  <a:srgbClr val="315C4D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650" b="1">
                <a:solidFill>
                  <a:srgbClr val="315C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315C4D"/>
                </a:solidFill>
                <a:latin typeface="Microsoft YaHei"/>
                <a:ea typeface="Microsoft YaHei"/>
                <a:cs typeface="Microsoft YaHei"/>
              </a:rPr>
              <a:t>06  /  v0.5 新增功能</a:t>
            </a:r>
          </a:p>
        </p:txBody>
      </p:sp>
      <p:sp>
        <p:nvSpPr>
          <p:cNvPr id="2" name="让处理可观察、可中止，也可留证。">
            <a:extLst xmlns:a="http://schemas.openxmlformats.org/drawingml/2006/main">
              <a:ext uri="{FF2B5EF4-FFF2-40B4-BE49-F238E27FC236}">
                <a16:creationId xmlns:a16="http://schemas.microsoft.com/office/drawing/2014/main" id="{E7174CD6-3393-42A9-9FCA-F4F3839CFD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47725"/>
            <a:ext cx="11049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300" b="1">
                <a:solidFill>
                  <a:srgbClr val="263B32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300" b="1">
                <a:solidFill>
                  <a:srgbClr val="263B32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300" b="1">
                <a:solidFill>
                  <a:srgbClr val="263B32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300" b="1">
                <a:solidFill>
                  <a:srgbClr val="263B32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300" b="1">
                <a:solidFill>
                  <a:srgbClr val="263B32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300" b="1">
                <a:solidFill>
                  <a:srgbClr val="263B32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300" b="1">
                <a:solidFill>
                  <a:srgbClr val="263B32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300" b="1">
                <a:solidFill>
                  <a:srgbClr val="263B32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300" b="1">
                <a:solidFill>
                  <a:srgbClr val="263B32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300" b="1">
                <a:solidFill>
                  <a:srgbClr val="263B32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263B3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263B32"/>
                </a:solidFill>
                <a:latin typeface="Microsoft YaHei"/>
                <a:ea typeface="Microsoft YaHei"/>
                <a:cs typeface="Microsoft YaHei"/>
              </a:rPr>
              <a:t>让处理可观察、可中止，也可留证。</a:t>
            </a:r>
          </a:p>
        </p:txBody>
      </p:sp>
      <p:sp>
        <p:nvSpPr>
          <p:cNvPr id="3" name="阶段进度、取消任务和记录导出用于工程验收，不单独宣称算法">
            <a:extLst xmlns:a="http://schemas.openxmlformats.org/drawingml/2006/main">
              <a:ext uri="{FF2B5EF4-FFF2-40B4-BE49-F238E27FC236}">
                <a16:creationId xmlns:a16="http://schemas.microsoft.com/office/drawing/2014/main" id="{8BB2942E-212D-4AAF-9AE4-813E74CCC3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28775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950" b="0">
                <a:solidFill>
                  <a:srgbClr val="637368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950" b="0">
                <a:solidFill>
                  <a:srgbClr val="637368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950" b="0">
                <a:solidFill>
                  <a:srgbClr val="637368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950" b="0">
                <a:solidFill>
                  <a:srgbClr val="637368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950" b="0">
                <a:solidFill>
                  <a:srgbClr val="637368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950" b="0">
                <a:solidFill>
                  <a:srgbClr val="637368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950" b="0">
                <a:solidFill>
                  <a:srgbClr val="637368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950" b="0">
                <a:solidFill>
                  <a:srgbClr val="637368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950" b="0">
                <a:solidFill>
                  <a:srgbClr val="637368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950" b="0">
                <a:solidFill>
                  <a:srgbClr val="63736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950" b="0">
                <a:solidFill>
                  <a:srgbClr val="6373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637368"/>
                </a:solidFill>
                <a:latin typeface="Microsoft YaHei"/>
                <a:ea typeface="Microsoft YaHei"/>
                <a:cs typeface="Microsoft YaHei"/>
              </a:rPr>
              <a:t>阶段进度、取消任务和记录导出用于工程验收，不单独宣称算法创新。</a:t>
            </a:r>
          </a:p>
        </p:txBody>
      </p:sp>
      <p:sp>
        <p:nvSpPr>
          <p:cNvPr id="4" name="KinVoice  /  内部答辩演示 · v0.5 ·">
            <a:extLst xmlns:a="http://schemas.openxmlformats.org/drawingml/2006/main">
              <a:ext uri="{FF2B5EF4-FFF2-40B4-BE49-F238E27FC236}">
                <a16:creationId xmlns:a16="http://schemas.microsoft.com/office/drawing/2014/main" id="{4293701C-10CE-449F-9310-E281743F97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48425"/>
            <a:ext cx="9620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350" b="0">
                <a:solidFill>
                  <a:srgbClr val="637368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350" b="0">
                <a:solidFill>
                  <a:srgbClr val="637368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350" b="0">
                <a:solidFill>
                  <a:srgbClr val="637368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350" b="0">
                <a:solidFill>
                  <a:srgbClr val="637368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350" b="0">
                <a:solidFill>
                  <a:srgbClr val="637368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350" b="0">
                <a:solidFill>
                  <a:srgbClr val="637368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350" b="0">
                <a:solidFill>
                  <a:srgbClr val="637368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350" b="0">
                <a:solidFill>
                  <a:srgbClr val="637368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350" b="0">
                <a:solidFill>
                  <a:srgbClr val="637368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350" b="0">
                <a:solidFill>
                  <a:srgbClr val="63736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6373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37368"/>
                </a:solidFill>
                <a:latin typeface="Microsoft YaHei"/>
                <a:ea typeface="Microsoft YaHei"/>
                <a:cs typeface="Microsoft YaHei"/>
              </a:rPr>
              <a:t>KinVoice  /  内部答辩演示 · v0.5 · 2026.10</a:t>
            </a:r>
          </a:p>
        </p:txBody>
      </p:sp>
      <p:sp>
        <p:nvSpPr>
          <p:cNvPr id="5" name="00">
            <a:extLst xmlns:a="http://schemas.openxmlformats.org/drawingml/2006/main">
              <a:ext uri="{FF2B5EF4-FFF2-40B4-BE49-F238E27FC236}">
                <a16:creationId xmlns:a16="http://schemas.microsoft.com/office/drawing/2014/main" id="{FAA96323-9C99-4C4F-B1BD-4522E259A6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77575" y="6419850"/>
            <a:ext cx="5048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500" b="1">
                <a:solidFill>
                  <a:srgbClr val="315C4D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00" b="1">
                <a:solidFill>
                  <a:srgbClr val="315C4D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00" b="1">
                <a:solidFill>
                  <a:srgbClr val="315C4D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00" b="1">
                <a:solidFill>
                  <a:srgbClr val="315C4D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00" b="1">
                <a:solidFill>
                  <a:srgbClr val="315C4D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00" b="1">
                <a:solidFill>
                  <a:srgbClr val="315C4D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00" b="1">
                <a:solidFill>
                  <a:srgbClr val="315C4D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00" b="1">
                <a:solidFill>
                  <a:srgbClr val="315C4D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00" b="1">
                <a:solidFill>
                  <a:srgbClr val="315C4D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00" b="1">
                <a:solidFill>
                  <a:srgbClr val="315C4D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500" b="1">
                <a:solidFill>
                  <a:srgbClr val="315C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315C4D"/>
                </a:solidFill>
                <a:latin typeface="Microsoft YaHei"/>
                <a:ea typeface="Microsoft YaHei"/>
                <a:cs typeface="Microsoft YaHei"/>
              </a:rPr>
              <a:t>07</a:t>
            </a:r>
          </a:p>
        </p:txBody>
      </p:sp>
      <p:sp>
        <p:nvSpPr>
          <p:cNvPr id="6" name="01">
            <a:extLst xmlns:a="http://schemas.openxmlformats.org/drawingml/2006/main">
              <a:ext uri="{FF2B5EF4-FFF2-40B4-BE49-F238E27FC236}">
                <a16:creationId xmlns:a16="http://schemas.microsoft.com/office/drawing/2014/main" id="{2B676C2B-7F08-4D79-A598-D99C30DCC2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33650"/>
            <a:ext cx="3143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250" b="0">
                <a:solidFill>
                  <a:srgbClr val="637368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250" b="0">
                <a:solidFill>
                  <a:srgbClr val="637368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250" b="0">
                <a:solidFill>
                  <a:srgbClr val="637368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250" b="0">
                <a:solidFill>
                  <a:srgbClr val="637368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250" b="0">
                <a:solidFill>
                  <a:srgbClr val="637368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250" b="0">
                <a:solidFill>
                  <a:srgbClr val="637368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250" b="0">
                <a:solidFill>
                  <a:srgbClr val="637368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250" b="0">
                <a:solidFill>
                  <a:srgbClr val="637368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250" b="0">
                <a:solidFill>
                  <a:srgbClr val="637368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250" b="0">
                <a:solidFill>
                  <a:srgbClr val="63736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6373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637368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7" name="看见真实步骤">
            <a:extLst xmlns:a="http://schemas.openxmlformats.org/drawingml/2006/main">
              <a:ext uri="{FF2B5EF4-FFF2-40B4-BE49-F238E27FC236}">
                <a16:creationId xmlns:a16="http://schemas.microsoft.com/office/drawing/2014/main" id="{B6D1B106-5B62-47DF-BAA9-E12A970ED9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33725"/>
            <a:ext cx="33718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550" b="1">
                <a:solidFill>
                  <a:srgbClr val="315C4D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550" b="1">
                <a:solidFill>
                  <a:srgbClr val="315C4D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550" b="1">
                <a:solidFill>
                  <a:srgbClr val="315C4D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550" b="1">
                <a:solidFill>
                  <a:srgbClr val="315C4D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550" b="1">
                <a:solidFill>
                  <a:srgbClr val="315C4D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550" b="1">
                <a:solidFill>
                  <a:srgbClr val="315C4D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550" b="1">
                <a:solidFill>
                  <a:srgbClr val="315C4D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550" b="1">
                <a:solidFill>
                  <a:srgbClr val="315C4D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550" b="1">
                <a:solidFill>
                  <a:srgbClr val="315C4D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550" b="1">
                <a:solidFill>
                  <a:srgbClr val="315C4D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550" b="1">
                <a:solidFill>
                  <a:srgbClr val="315C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315C4D"/>
                </a:solidFill>
                <a:latin typeface="Microsoft YaHei"/>
                <a:ea typeface="Microsoft YaHei"/>
                <a:cs typeface="Microsoft YaHei"/>
              </a:rPr>
              <a:t>看见真实步骤</a:t>
            </a:r>
          </a:p>
        </p:txBody>
      </p:sp>
      <p:sp>
        <p:nvSpPr>
          <p:cNvPr id="8" name="后端逐步发送阶段状态&#10;候选文本不提前显示&#10;结果保留检查与">
            <a:extLst xmlns:a="http://schemas.openxmlformats.org/drawingml/2006/main">
              <a:ext uri="{FF2B5EF4-FFF2-40B4-BE49-F238E27FC236}">
                <a16:creationId xmlns:a16="http://schemas.microsoft.com/office/drawing/2014/main" id="{FD365A9C-9C9A-476B-8EDD-D9335F4E4E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05250"/>
            <a:ext cx="3371850" cy="1438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950" b="0">
                <a:solidFill>
                  <a:srgbClr val="263B32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950" b="0">
                <a:solidFill>
                  <a:srgbClr val="263B32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950" b="0">
                <a:solidFill>
                  <a:srgbClr val="263B32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950" b="0">
                <a:solidFill>
                  <a:srgbClr val="263B32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950" b="0">
                <a:solidFill>
                  <a:srgbClr val="263B32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950" b="0">
                <a:solidFill>
                  <a:srgbClr val="263B32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950" b="0">
                <a:solidFill>
                  <a:srgbClr val="263B32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950" b="0">
                <a:solidFill>
                  <a:srgbClr val="263B32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950" b="0">
                <a:solidFill>
                  <a:srgbClr val="263B32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950" b="0">
                <a:solidFill>
                  <a:srgbClr val="263B32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950" b="0">
                <a:solidFill>
                  <a:srgbClr val="263B3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263B32"/>
                </a:solidFill>
                <a:latin typeface="Microsoft YaHei"/>
                <a:ea typeface="Microsoft YaHei"/>
                <a:cs typeface="Microsoft YaHei"/>
              </a:rPr>
              <a:t>后端逐步发送阶段状态</a:t>
            </a:r>
          </a:p>
          <a:p xmlns:a="http://schemas.openxmlformats.org/drawingml/2006/main">
            <a:pPr>
              <a:defRPr sz="1950" b="0">
                <a:solidFill>
                  <a:srgbClr val="263B3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263B32"/>
                </a:solidFill>
                <a:latin typeface="Microsoft YaHei"/>
                <a:ea typeface="Microsoft YaHei"/>
                <a:cs typeface="Microsoft YaHei"/>
              </a:rPr>
              <a:t>候选文本不提前显示</a:t>
            </a:r>
          </a:p>
          <a:p xmlns:a="http://schemas.openxmlformats.org/drawingml/2006/main">
            <a:pPr>
              <a:defRPr sz="1950" b="0">
                <a:solidFill>
                  <a:srgbClr val="263B3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263B32"/>
                </a:solidFill>
                <a:latin typeface="Microsoft YaHei"/>
                <a:ea typeface="Microsoft YaHei"/>
                <a:cs typeface="Microsoft YaHei"/>
              </a:rPr>
              <a:t>结果保留检查与来源标记</a:t>
            </a:r>
          </a:p>
        </p:txBody>
      </p:sp>
      <p:sp>
        <p:nvSpPr>
          <p:cNvPr id="9" name="02">
            <a:extLst xmlns:a="http://schemas.openxmlformats.org/drawingml/2006/main">
              <a:ext uri="{FF2B5EF4-FFF2-40B4-BE49-F238E27FC236}">
                <a16:creationId xmlns:a16="http://schemas.microsoft.com/office/drawing/2014/main" id="{08161982-1B09-4DB3-88A1-814C303101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2533650"/>
            <a:ext cx="3143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250" b="0">
                <a:solidFill>
                  <a:srgbClr val="637368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250" b="0">
                <a:solidFill>
                  <a:srgbClr val="637368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250" b="0">
                <a:solidFill>
                  <a:srgbClr val="637368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250" b="0">
                <a:solidFill>
                  <a:srgbClr val="637368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250" b="0">
                <a:solidFill>
                  <a:srgbClr val="637368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250" b="0">
                <a:solidFill>
                  <a:srgbClr val="637368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250" b="0">
                <a:solidFill>
                  <a:srgbClr val="637368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250" b="0">
                <a:solidFill>
                  <a:srgbClr val="637368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250" b="0">
                <a:solidFill>
                  <a:srgbClr val="637368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250" b="0">
                <a:solidFill>
                  <a:srgbClr val="63736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6373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637368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10" name="处理中可暂停">
            <a:extLst xmlns:a="http://schemas.openxmlformats.org/drawingml/2006/main">
              <a:ext uri="{FF2B5EF4-FFF2-40B4-BE49-F238E27FC236}">
                <a16:creationId xmlns:a16="http://schemas.microsoft.com/office/drawing/2014/main" id="{7F7878F1-9046-4A48-BA9A-F6460B0938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3133725"/>
            <a:ext cx="33718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550" b="1">
                <a:solidFill>
                  <a:srgbClr val="315C4D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550" b="1">
                <a:solidFill>
                  <a:srgbClr val="315C4D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550" b="1">
                <a:solidFill>
                  <a:srgbClr val="315C4D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550" b="1">
                <a:solidFill>
                  <a:srgbClr val="315C4D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550" b="1">
                <a:solidFill>
                  <a:srgbClr val="315C4D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550" b="1">
                <a:solidFill>
                  <a:srgbClr val="315C4D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550" b="1">
                <a:solidFill>
                  <a:srgbClr val="315C4D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550" b="1">
                <a:solidFill>
                  <a:srgbClr val="315C4D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550" b="1">
                <a:solidFill>
                  <a:srgbClr val="315C4D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550" b="1">
                <a:solidFill>
                  <a:srgbClr val="315C4D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550" b="1">
                <a:solidFill>
                  <a:srgbClr val="315C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315C4D"/>
                </a:solidFill>
                <a:latin typeface="Microsoft YaHei"/>
                <a:ea typeface="Microsoft YaHei"/>
                <a:cs typeface="Microsoft YaHei"/>
              </a:rPr>
              <a:t>处理中可暂停</a:t>
            </a:r>
          </a:p>
        </p:txBody>
      </p:sp>
      <p:sp>
        <p:nvSpPr>
          <p:cNvPr id="11" name="页面关闭连接&#10;后端检测断连后取消任务&#10;不再启动后续步骤">
            <a:extLst xmlns:a="http://schemas.openxmlformats.org/drawingml/2006/main">
              <a:ext uri="{FF2B5EF4-FFF2-40B4-BE49-F238E27FC236}">
                <a16:creationId xmlns:a16="http://schemas.microsoft.com/office/drawing/2014/main" id="{60EFE6B6-D2F0-4294-9D98-63EA1C126A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3905250"/>
            <a:ext cx="3371850" cy="1438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950" b="0">
                <a:solidFill>
                  <a:srgbClr val="263B32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950" b="0">
                <a:solidFill>
                  <a:srgbClr val="263B32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950" b="0">
                <a:solidFill>
                  <a:srgbClr val="263B32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950" b="0">
                <a:solidFill>
                  <a:srgbClr val="263B32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950" b="0">
                <a:solidFill>
                  <a:srgbClr val="263B32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950" b="0">
                <a:solidFill>
                  <a:srgbClr val="263B32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950" b="0">
                <a:solidFill>
                  <a:srgbClr val="263B32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950" b="0">
                <a:solidFill>
                  <a:srgbClr val="263B32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950" b="0">
                <a:solidFill>
                  <a:srgbClr val="263B32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950" b="0">
                <a:solidFill>
                  <a:srgbClr val="263B32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950" b="0">
                <a:solidFill>
                  <a:srgbClr val="263B3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263B32"/>
                </a:solidFill>
                <a:latin typeface="Microsoft YaHei"/>
                <a:ea typeface="Microsoft YaHei"/>
                <a:cs typeface="Microsoft YaHei"/>
              </a:rPr>
              <a:t>页面关闭连接</a:t>
            </a:r>
          </a:p>
          <a:p xmlns:a="http://schemas.openxmlformats.org/drawingml/2006/main">
            <a:pPr>
              <a:defRPr sz="1950" b="0">
                <a:solidFill>
                  <a:srgbClr val="263B3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263B32"/>
                </a:solidFill>
                <a:latin typeface="Microsoft YaHei"/>
                <a:ea typeface="Microsoft YaHei"/>
                <a:cs typeface="Microsoft YaHei"/>
              </a:rPr>
              <a:t>后端检测断连后取消任务</a:t>
            </a:r>
          </a:p>
          <a:p xmlns:a="http://schemas.openxmlformats.org/drawingml/2006/main">
            <a:pPr>
              <a:defRPr sz="1950" b="0">
                <a:solidFill>
                  <a:srgbClr val="263B3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263B32"/>
                </a:solidFill>
                <a:latin typeface="Microsoft YaHei"/>
                <a:ea typeface="Microsoft YaHei"/>
                <a:cs typeface="Microsoft YaHei"/>
              </a:rPr>
              <a:t>不再启动后续步骤</a:t>
            </a:r>
          </a:p>
        </p:txBody>
      </p:sp>
      <p:sp>
        <p:nvSpPr>
          <p:cNvPr id="12" name="03">
            <a:extLst xmlns:a="http://schemas.openxmlformats.org/drawingml/2006/main">
              <a:ext uri="{FF2B5EF4-FFF2-40B4-BE49-F238E27FC236}">
                <a16:creationId xmlns:a16="http://schemas.microsoft.com/office/drawing/2014/main" id="{FC6A7AE7-F6D8-4673-91A4-F12F34B8CC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2533650"/>
            <a:ext cx="3143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250" b="0">
                <a:solidFill>
                  <a:srgbClr val="637368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250" b="0">
                <a:solidFill>
                  <a:srgbClr val="637368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250" b="0">
                <a:solidFill>
                  <a:srgbClr val="637368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250" b="0">
                <a:solidFill>
                  <a:srgbClr val="637368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250" b="0">
                <a:solidFill>
                  <a:srgbClr val="637368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250" b="0">
                <a:solidFill>
                  <a:srgbClr val="637368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250" b="0">
                <a:solidFill>
                  <a:srgbClr val="637368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250" b="0">
                <a:solidFill>
                  <a:srgbClr val="637368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250" b="0">
                <a:solidFill>
                  <a:srgbClr val="637368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250" b="0">
                <a:solidFill>
                  <a:srgbClr val="63736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6373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637368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13" name="导出技术记录">
            <a:extLst xmlns:a="http://schemas.openxmlformats.org/drawingml/2006/main">
              <a:ext uri="{FF2B5EF4-FFF2-40B4-BE49-F238E27FC236}">
                <a16:creationId xmlns:a16="http://schemas.microsoft.com/office/drawing/2014/main" id="{6928C045-5FA0-4934-8560-47C5D1167B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3133725"/>
            <a:ext cx="33718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550" b="1">
                <a:solidFill>
                  <a:srgbClr val="315C4D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550" b="1">
                <a:solidFill>
                  <a:srgbClr val="315C4D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550" b="1">
                <a:solidFill>
                  <a:srgbClr val="315C4D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550" b="1">
                <a:solidFill>
                  <a:srgbClr val="315C4D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550" b="1">
                <a:solidFill>
                  <a:srgbClr val="315C4D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550" b="1">
                <a:solidFill>
                  <a:srgbClr val="315C4D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550" b="1">
                <a:solidFill>
                  <a:srgbClr val="315C4D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550" b="1">
                <a:solidFill>
                  <a:srgbClr val="315C4D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550" b="1">
                <a:solidFill>
                  <a:srgbClr val="315C4D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550" b="1">
                <a:solidFill>
                  <a:srgbClr val="315C4D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550" b="1">
                <a:solidFill>
                  <a:srgbClr val="315C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315C4D"/>
                </a:solidFill>
                <a:latin typeface="Microsoft YaHei"/>
                <a:ea typeface="Microsoft YaHei"/>
                <a:cs typeface="Microsoft YaHei"/>
              </a:rPr>
              <a:t>导出技术记录</a:t>
            </a:r>
          </a:p>
        </p:txBody>
      </p:sp>
      <p:sp>
        <p:nvSpPr>
          <p:cNvPr id="14" name="策略、步骤、用量与失败码&#10;不含对话、原话引用或回复&#10;失败">
            <a:extLst xmlns:a="http://schemas.openxmlformats.org/drawingml/2006/main">
              <a:ext uri="{FF2B5EF4-FFF2-40B4-BE49-F238E27FC236}">
                <a16:creationId xmlns:a16="http://schemas.microsoft.com/office/drawing/2014/main" id="{0B812B05-3D45-453A-BC92-2B3CF1D15B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3905250"/>
            <a:ext cx="3371850" cy="1438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950" b="0">
                <a:solidFill>
                  <a:srgbClr val="263B32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950" b="0">
                <a:solidFill>
                  <a:srgbClr val="263B32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950" b="0">
                <a:solidFill>
                  <a:srgbClr val="263B32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950" b="0">
                <a:solidFill>
                  <a:srgbClr val="263B32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950" b="0">
                <a:solidFill>
                  <a:srgbClr val="263B32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950" b="0">
                <a:solidFill>
                  <a:srgbClr val="263B32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950" b="0">
                <a:solidFill>
                  <a:srgbClr val="263B32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950" b="0">
                <a:solidFill>
                  <a:srgbClr val="263B32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950" b="0">
                <a:solidFill>
                  <a:srgbClr val="263B32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950" b="0">
                <a:solidFill>
                  <a:srgbClr val="263B32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950" b="0">
                <a:solidFill>
                  <a:srgbClr val="263B3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263B32"/>
                </a:solidFill>
                <a:latin typeface="Microsoft YaHei"/>
                <a:ea typeface="Microsoft YaHei"/>
                <a:cs typeface="Microsoft YaHei"/>
              </a:rPr>
              <a:t>策略、步骤、用量与失败码</a:t>
            </a:r>
          </a:p>
          <a:p xmlns:a="http://schemas.openxmlformats.org/drawingml/2006/main">
            <a:pPr>
              <a:defRPr sz="1950" b="0">
                <a:solidFill>
                  <a:srgbClr val="263B3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263B32"/>
                </a:solidFill>
                <a:latin typeface="Microsoft YaHei"/>
                <a:ea typeface="Microsoft YaHei"/>
                <a:cs typeface="Microsoft YaHei"/>
              </a:rPr>
              <a:t>不含对话、原话引用或回复</a:t>
            </a:r>
          </a:p>
          <a:p xmlns:a="http://schemas.openxmlformats.org/drawingml/2006/main">
            <a:pPr>
              <a:defRPr sz="1950" b="0">
                <a:solidFill>
                  <a:srgbClr val="263B3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263B32"/>
                </a:solidFill>
                <a:latin typeface="Microsoft YaHei"/>
                <a:ea typeface="Microsoft YaHei"/>
                <a:cs typeface="Microsoft YaHei"/>
              </a:rPr>
              <a:t>失败或暂停用量标为未知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27AC9F5-8A56-44C7-BB6B-05A51F72F8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435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DCCF"/>
          </a:solidFill>
          <a:ln xmlns:a="http://schemas.openxmlformats.org/drawingml/2006/main" w="0">
            <a:noFill/>
          </a:ln>
        </p:spPr>
      </p:sp>
      <p:sp>
        <p:nvSpPr>
          <p:cNvPr id="16" name="暂停无法撤回已外发的数据，也不保证服务商停止计算或计费。">
            <a:extLst xmlns:a="http://schemas.openxmlformats.org/drawingml/2006/main">
              <a:ext uri="{FF2B5EF4-FFF2-40B4-BE49-F238E27FC236}">
                <a16:creationId xmlns:a16="http://schemas.microsoft.com/office/drawing/2014/main" id="{E48CFC67-6347-439D-BED9-D5635CDA8A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29300"/>
            <a:ext cx="1097280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950" b="0">
                <a:solidFill>
                  <a:srgbClr val="A366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950" b="0">
                <a:solidFill>
                  <a:srgbClr val="A366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950" b="0">
                <a:solidFill>
                  <a:srgbClr val="A366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950" b="0">
                <a:solidFill>
                  <a:srgbClr val="A366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950" b="0">
                <a:solidFill>
                  <a:srgbClr val="A366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950" b="0">
                <a:solidFill>
                  <a:srgbClr val="A366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950" b="0">
                <a:solidFill>
                  <a:srgbClr val="A366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950" b="0">
                <a:solidFill>
                  <a:srgbClr val="A366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950" b="0">
                <a:solidFill>
                  <a:srgbClr val="A366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950" b="0">
                <a:solidFill>
                  <a:srgbClr val="A366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950" b="0">
                <a:solidFill>
                  <a:srgbClr val="A366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A36643"/>
                </a:solidFill>
                <a:latin typeface="Microsoft YaHei"/>
                <a:ea typeface="Microsoft YaHei"/>
                <a:cs typeface="Microsoft YaHei"/>
              </a:rPr>
              <a:t>暂停无法撤回已外发的数据，也不保证服务商停止计算或计费。</a:t>
            </a:r>
          </a:p>
        </p:txBody>
      </p:sp>
    </p:spTree>
    <p:extLst>
      <p:ext uri="{BB962C8B-B14F-4D97-AF65-F5344CB8AC3E}">
        <p14:creationId xmlns:p14="http://schemas.microsoft.com/office/powerpoint/2010/main" val="72354920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7F6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07  /  90 秒现场演示">
            <a:extLst xmlns:a="http://schemas.openxmlformats.org/drawingml/2006/main">
              <a:ext uri="{FF2B5EF4-FFF2-40B4-BE49-F238E27FC236}">
                <a16:creationId xmlns:a16="http://schemas.microsoft.com/office/drawing/2014/main" id="{0610DA81-E7AE-4523-9378-C4CA7BE294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9525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650" b="1">
                <a:solidFill>
                  <a:srgbClr val="315C4D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650" b="1">
                <a:solidFill>
                  <a:srgbClr val="315C4D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650" b="1">
                <a:solidFill>
                  <a:srgbClr val="315C4D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650" b="1">
                <a:solidFill>
                  <a:srgbClr val="315C4D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650" b="1">
                <a:solidFill>
                  <a:srgbClr val="315C4D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650" b="1">
                <a:solidFill>
                  <a:srgbClr val="315C4D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650" b="1">
                <a:solidFill>
                  <a:srgbClr val="315C4D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650" b="1">
                <a:solidFill>
                  <a:srgbClr val="315C4D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650" b="1">
                <a:solidFill>
                  <a:srgbClr val="315C4D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650" b="1">
                <a:solidFill>
                  <a:srgbClr val="315C4D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650" b="1">
                <a:solidFill>
                  <a:srgbClr val="315C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315C4D"/>
                </a:solidFill>
                <a:latin typeface="Microsoft YaHei"/>
                <a:ea typeface="Microsoft YaHei"/>
                <a:cs typeface="Microsoft YaHei"/>
              </a:rPr>
              <a:t>07  /  90 秒现场演示</a:t>
            </a:r>
          </a:p>
        </p:txBody>
      </p:sp>
      <p:sp>
        <p:nvSpPr>
          <p:cNvPr id="2" name="把“为什么退回倾听”现场证明给评委看。">
            <a:extLst xmlns:a="http://schemas.openxmlformats.org/drawingml/2006/main">
              <a:ext uri="{FF2B5EF4-FFF2-40B4-BE49-F238E27FC236}">
                <a16:creationId xmlns:a16="http://schemas.microsoft.com/office/drawing/2014/main" id="{0A3FFC4F-0A8C-4D6A-8008-23A37CD0EE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47725"/>
            <a:ext cx="11049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300" b="1">
                <a:solidFill>
                  <a:srgbClr val="263B32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300" b="1">
                <a:solidFill>
                  <a:srgbClr val="263B32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300" b="1">
                <a:solidFill>
                  <a:srgbClr val="263B32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300" b="1">
                <a:solidFill>
                  <a:srgbClr val="263B32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300" b="1">
                <a:solidFill>
                  <a:srgbClr val="263B32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300" b="1">
                <a:solidFill>
                  <a:srgbClr val="263B32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300" b="1">
                <a:solidFill>
                  <a:srgbClr val="263B32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300" b="1">
                <a:solidFill>
                  <a:srgbClr val="263B32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300" b="1">
                <a:solidFill>
                  <a:srgbClr val="263B32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300" b="1">
                <a:solidFill>
                  <a:srgbClr val="263B32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263B3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263B32"/>
                </a:solidFill>
                <a:latin typeface="Microsoft YaHei"/>
                <a:ea typeface="Microsoft YaHei"/>
                <a:cs typeface="Microsoft YaHei"/>
              </a:rPr>
              <a:t>把“为什么退回倾听”现场证明给评委看。</a:t>
            </a:r>
          </a:p>
        </p:txBody>
      </p:sp>
      <p:sp>
        <p:nvSpPr>
          <p:cNvPr id="3" name="演示入口  http://127.0.0.1:8768/">
            <a:extLst xmlns:a="http://schemas.openxmlformats.org/drawingml/2006/main">
              <a:ext uri="{FF2B5EF4-FFF2-40B4-BE49-F238E27FC236}">
                <a16:creationId xmlns:a16="http://schemas.microsoft.com/office/drawing/2014/main" id="{0283839E-5DF2-4F5E-86B2-85B86B6183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28775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950" b="0">
                <a:solidFill>
                  <a:srgbClr val="637368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950" b="0">
                <a:solidFill>
                  <a:srgbClr val="637368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950" b="0">
                <a:solidFill>
                  <a:srgbClr val="637368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950" b="0">
                <a:solidFill>
                  <a:srgbClr val="637368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950" b="0">
                <a:solidFill>
                  <a:srgbClr val="637368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950" b="0">
                <a:solidFill>
                  <a:srgbClr val="637368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950" b="0">
                <a:solidFill>
                  <a:srgbClr val="637368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950" b="0">
                <a:solidFill>
                  <a:srgbClr val="637368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950" b="0">
                <a:solidFill>
                  <a:srgbClr val="637368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950" b="0">
                <a:solidFill>
                  <a:srgbClr val="63736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950" b="0">
                <a:solidFill>
                  <a:srgbClr val="6373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637368"/>
                </a:solidFill>
                <a:latin typeface="Microsoft YaHei"/>
                <a:ea typeface="Microsoft YaHei"/>
                <a:cs typeface="Microsoft YaHei"/>
              </a:rPr>
              <a:t>演示入口  http://127.0.0.1:8768/  ｜固定示例模式，使用虚构情境。</a:t>
            </a:r>
          </a:p>
        </p:txBody>
      </p:sp>
      <p:sp>
        <p:nvSpPr>
          <p:cNvPr id="4" name="KinVoice  /  内部答辩演示 · v0.5 ·">
            <a:extLst xmlns:a="http://schemas.openxmlformats.org/drawingml/2006/main">
              <a:ext uri="{FF2B5EF4-FFF2-40B4-BE49-F238E27FC236}">
                <a16:creationId xmlns:a16="http://schemas.microsoft.com/office/drawing/2014/main" id="{53BDACDF-DE28-4123-8B20-CC776BE2ED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48425"/>
            <a:ext cx="9620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350" b="0">
                <a:solidFill>
                  <a:srgbClr val="637368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350" b="0">
                <a:solidFill>
                  <a:srgbClr val="637368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350" b="0">
                <a:solidFill>
                  <a:srgbClr val="637368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350" b="0">
                <a:solidFill>
                  <a:srgbClr val="637368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350" b="0">
                <a:solidFill>
                  <a:srgbClr val="637368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350" b="0">
                <a:solidFill>
                  <a:srgbClr val="637368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350" b="0">
                <a:solidFill>
                  <a:srgbClr val="637368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350" b="0">
                <a:solidFill>
                  <a:srgbClr val="637368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350" b="0">
                <a:solidFill>
                  <a:srgbClr val="637368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350" b="0">
                <a:solidFill>
                  <a:srgbClr val="63736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6373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37368"/>
                </a:solidFill>
                <a:latin typeface="Microsoft YaHei"/>
                <a:ea typeface="Microsoft YaHei"/>
                <a:cs typeface="Microsoft YaHei"/>
              </a:rPr>
              <a:t>KinVoice  /  内部答辩演示 · v0.5 · 2026.10</a:t>
            </a:r>
          </a:p>
        </p:txBody>
      </p:sp>
      <p:sp>
        <p:nvSpPr>
          <p:cNvPr id="5" name="00">
            <a:extLst xmlns:a="http://schemas.openxmlformats.org/drawingml/2006/main">
              <a:ext uri="{FF2B5EF4-FFF2-40B4-BE49-F238E27FC236}">
                <a16:creationId xmlns:a16="http://schemas.microsoft.com/office/drawing/2014/main" id="{B53B724B-9419-4E06-A411-A077CA12F1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77575" y="6419850"/>
            <a:ext cx="5048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500" b="1">
                <a:solidFill>
                  <a:srgbClr val="315C4D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00" b="1">
                <a:solidFill>
                  <a:srgbClr val="315C4D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00" b="1">
                <a:solidFill>
                  <a:srgbClr val="315C4D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00" b="1">
                <a:solidFill>
                  <a:srgbClr val="315C4D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00" b="1">
                <a:solidFill>
                  <a:srgbClr val="315C4D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00" b="1">
                <a:solidFill>
                  <a:srgbClr val="315C4D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00" b="1">
                <a:solidFill>
                  <a:srgbClr val="315C4D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00" b="1">
                <a:solidFill>
                  <a:srgbClr val="315C4D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00" b="1">
                <a:solidFill>
                  <a:srgbClr val="315C4D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00" b="1">
                <a:solidFill>
                  <a:srgbClr val="315C4D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500" b="1">
                <a:solidFill>
                  <a:srgbClr val="315C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315C4D"/>
                </a:solidFill>
                <a:latin typeface="Microsoft YaHei"/>
                <a:ea typeface="Microsoft YaHei"/>
                <a:cs typeface="Microsoft YaHei"/>
              </a:rPr>
              <a:t>08</a:t>
            </a:r>
          </a:p>
        </p:txBody>
      </p:sp>
      <p:graphicFrame>
        <p:nvGraphicFrame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04A211D-6EA7-4765-BBED-762E10FB5A72}"/>
              </a:ext>
            </a:extLst>
          </p:cNvPr>
          <p:cNvGraphicFramePr/>
          <p:nvPr/>
        </p:nvGraphicFramePr>
        <p:xfrm>
          <a:off xmlns:a="http://schemas.openxmlformats.org/drawingml/2006/main" x="609600" y="2400300"/>
          <a:ext xmlns:a="http://schemas.openxmlformats.org/drawingml/2006/main" cx="10972800" cy="3219450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1476375"/>
                <a:gridCol w="5143500"/>
                <a:gridCol w="4352925"/>
              </a:tblGrid>
              <a:tr h="514350">
                <a:tc>
                  <a:txBody>
                    <a:bodyPr lIns="152400" tIns="114300" rIns="114300" bIns="95250"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315C4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时间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4DCCF"/>
                      </a:solidFill>
                      <a:prstDash val="solid"/>
                    </a:lnL>
                    <a:lnR w="9525">
                      <a:solidFill>
                        <a:srgbClr val="D4DCCF"/>
                      </a:solidFill>
                      <a:prstDash val="solid"/>
                    </a:lnR>
                    <a:lnT w="9525">
                      <a:solidFill>
                        <a:srgbClr val="D4DCCF"/>
                      </a:solidFill>
                      <a:prstDash val="solid"/>
                    </a:lnT>
                    <a:lnB w="9525">
                      <a:solidFill>
                        <a:srgbClr val="D4DCCF"/>
                      </a:solidFill>
                      <a:prstDash val="solid"/>
                    </a:lnB>
                    <a:solidFill>
                      <a:srgbClr val="E8EDDF"/>
                    </a:solidFill>
                  </a:tcPr>
                </a:tc>
                <a:tc>
                  <a:txBody>
                    <a:bodyPr lIns="152400" tIns="114300" rIns="114300" bIns="95250"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315C4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操作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4DCCF"/>
                      </a:solidFill>
                      <a:prstDash val="solid"/>
                    </a:lnR>
                    <a:lnT w="9525">
                      <a:solidFill>
                        <a:srgbClr val="D4DCCF"/>
                      </a:solidFill>
                      <a:prstDash val="solid"/>
                    </a:lnT>
                    <a:lnB w="9525">
                      <a:solidFill>
                        <a:srgbClr val="D4DCCF"/>
                      </a:solidFill>
                      <a:prstDash val="solid"/>
                    </a:lnB>
                    <a:solidFill>
                      <a:srgbClr val="E8EDDF"/>
                    </a:solidFill>
                  </a:tcPr>
                </a:tc>
                <a:tc>
                  <a:txBody>
                    <a:bodyPr lIns="152400" tIns="114300" rIns="114300" bIns="95250"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315C4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请评委观察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4DCCF"/>
                      </a:solidFill>
                      <a:prstDash val="solid"/>
                    </a:lnR>
                    <a:lnT w="9525">
                      <a:solidFill>
                        <a:srgbClr val="D4DCCF"/>
                      </a:solidFill>
                      <a:prstDash val="solid"/>
                    </a:lnT>
                    <a:lnB w="9525">
                      <a:solidFill>
                        <a:srgbClr val="D4DCCF"/>
                      </a:solidFill>
                      <a:prstDash val="solid"/>
                    </a:lnB>
                    <a:solidFill>
                      <a:srgbClr val="E8EDDF"/>
                    </a:solidFill>
                  </a:tcPr>
                </a:tc>
              </a:tr>
              <a:tr h="676275">
                <a:tc>
                  <a:txBody>
                    <a:bodyPr lIns="152400" tIns="114300" rIns="114300" bIns="952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63B3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0–20 秒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4DCCF"/>
                      </a:solidFill>
                      <a:prstDash val="solid"/>
                    </a:lnL>
                    <a:lnR w="9525">
                      <a:solidFill>
                        <a:srgbClr val="D4DCCF"/>
                      </a:solidFill>
                      <a:prstDash val="solid"/>
                    </a:lnR>
                    <a:lnB w="9525">
                      <a:solidFill>
                        <a:srgbClr val="D4DCCF"/>
                      </a:solidFill>
                      <a:prstDash val="solid"/>
                    </a:lnB>
                    <a:solidFill>
                      <a:srgbClr val="F7F6F0"/>
                    </a:solidFill>
                  </a:tcPr>
                </a:tc>
                <a:tc>
                  <a:txBody>
                    <a:bodyPr lIns="152400" tIns="114300" rIns="114300" bIns="952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63B3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登录后选择“我现在只想有人听我说”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4DCCF"/>
                      </a:solidFill>
                      <a:prstDash val="solid"/>
                    </a:lnR>
                    <a:lnB w="9525">
                      <a:solidFill>
                        <a:srgbClr val="D4DCCF"/>
                      </a:solidFill>
                      <a:prstDash val="solid"/>
                    </a:lnB>
                    <a:solidFill>
                      <a:srgbClr val="F7F6F0"/>
                    </a:solidFill>
                  </a:tcPr>
                </a:tc>
                <a:tc>
                  <a:txBody>
                    <a:bodyPr lIns="152400" tIns="114300" rIns="114300" bIns="952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63B3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预设为“准备表达”；原话拒绝建议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4DCCF"/>
                      </a:solidFill>
                      <a:prstDash val="solid"/>
                    </a:lnR>
                    <a:lnB w="9525">
                      <a:solidFill>
                        <a:srgbClr val="D4DCCF"/>
                      </a:solidFill>
                      <a:prstDash val="solid"/>
                    </a:lnB>
                    <a:solidFill>
                      <a:srgbClr val="F7F6F0"/>
                    </a:solidFill>
                  </a:tcPr>
                </a:tc>
              </a:tr>
              <a:tr h="676275">
                <a:tc>
                  <a:txBody>
                    <a:bodyPr lIns="152400" tIns="114300" rIns="114300" bIns="952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63B3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20–45 秒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4DCCF"/>
                      </a:solidFill>
                      <a:prstDash val="solid"/>
                    </a:lnL>
                    <a:lnR w="9525">
                      <a:solidFill>
                        <a:srgbClr val="D4DCCF"/>
                      </a:solidFill>
                      <a:prstDash val="solid"/>
                    </a:lnR>
                    <a:lnB w="9525">
                      <a:solidFill>
                        <a:srgbClr val="D4DCCF"/>
                      </a:solidFill>
                      <a:prstDash val="solid"/>
                    </a:lnB>
                    <a:solidFill>
                      <a:srgbClr val="F7F6F0"/>
                    </a:solidFill>
                  </a:tcPr>
                </a:tc>
                <a:tc>
                  <a:txBody>
                    <a:bodyPr lIns="152400" tIns="114300" rIns="114300" bIns="952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63B3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确认虚构情境 → 发送 → 技术讲解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4DCCF"/>
                      </a:solidFill>
                      <a:prstDash val="solid"/>
                    </a:lnR>
                    <a:lnB w="9525">
                      <a:solidFill>
                        <a:srgbClr val="D4DCCF"/>
                      </a:solidFill>
                      <a:prstDash val="solid"/>
                    </a:lnB>
                    <a:solidFill>
                      <a:srgbClr val="F7F6F0"/>
                    </a:solidFill>
                  </a:tcPr>
                </a:tc>
                <a:tc>
                  <a:txBody>
                    <a:bodyPr lIns="152400" tIns="114300" rIns="114300" bIns="952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63B3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实际策略变为倾听；允许策略与原话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4DCCF"/>
                      </a:solidFill>
                      <a:prstDash val="solid"/>
                    </a:lnR>
                    <a:lnB w="9525">
                      <a:solidFill>
                        <a:srgbClr val="D4DCCF"/>
                      </a:solidFill>
                      <a:prstDash val="solid"/>
                    </a:lnB>
                    <a:solidFill>
                      <a:srgbClr val="F7F6F0"/>
                    </a:solidFill>
                  </a:tcPr>
                </a:tc>
              </a:tr>
              <a:tr h="676275">
                <a:tc>
                  <a:txBody>
                    <a:bodyPr lIns="152400" tIns="114300" rIns="114300" bIns="952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63B3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45–70 秒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4DCCF"/>
                      </a:solidFill>
                      <a:prstDash val="solid"/>
                    </a:lnL>
                    <a:lnR w="9525">
                      <a:solidFill>
                        <a:srgbClr val="D4DCCF"/>
                      </a:solidFill>
                      <a:prstDash val="solid"/>
                    </a:lnR>
                    <a:lnB w="9525">
                      <a:solidFill>
                        <a:srgbClr val="D4DCCF"/>
                      </a:solidFill>
                      <a:prstDash val="solid"/>
                    </a:lnB>
                    <a:solidFill>
                      <a:srgbClr val="F7F6F0"/>
                    </a:solidFill>
                  </a:tcPr>
                </a:tc>
                <a:tc>
                  <a:txBody>
                    <a:bodyPr lIns="152400" tIns="114300" rIns="114300" bIns="952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63B3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清空 → 选择“不安全”情境 → 发送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4DCCF"/>
                      </a:solidFill>
                      <a:prstDash val="solid"/>
                    </a:lnR>
                    <a:lnB w="9525">
                      <a:solidFill>
                        <a:srgbClr val="D4DCCF"/>
                      </a:solidFill>
                      <a:prstDash val="solid"/>
                    </a:lnB>
                    <a:solidFill>
                      <a:srgbClr val="F7F6F0"/>
                    </a:solidFill>
                  </a:tcPr>
                </a:tc>
                <a:tc>
                  <a:txBody>
                    <a:bodyPr lIns="152400" tIns="114300" rIns="114300" bIns="952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63B3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沟通草稿受到限制；显示固定来源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4DCCF"/>
                      </a:solidFill>
                      <a:prstDash val="solid"/>
                    </a:lnR>
                    <a:lnB w="9525">
                      <a:solidFill>
                        <a:srgbClr val="D4DCCF"/>
                      </a:solidFill>
                      <a:prstDash val="solid"/>
                    </a:lnB>
                    <a:solidFill>
                      <a:srgbClr val="F7F6F0"/>
                    </a:solidFill>
                  </a:tcPr>
                </a:tc>
              </a:tr>
              <a:tr h="676275">
                <a:tc>
                  <a:txBody>
                    <a:bodyPr lIns="152400" tIns="114300" rIns="114300" bIns="952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63B3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70–90 秒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4DCCF"/>
                      </a:solidFill>
                      <a:prstDash val="solid"/>
                    </a:lnL>
                    <a:lnR w="9525">
                      <a:solidFill>
                        <a:srgbClr val="D4DCCF"/>
                      </a:solidFill>
                      <a:prstDash val="solid"/>
                    </a:lnR>
                    <a:lnB w="9525">
                      <a:solidFill>
                        <a:srgbClr val="D4DCCF"/>
                      </a:solidFill>
                      <a:prstDash val="solid"/>
                    </a:lnB>
                    <a:solidFill>
                      <a:srgbClr val="F7F6F0"/>
                    </a:solidFill>
                  </a:tcPr>
                </a:tc>
                <a:tc>
                  <a:txBody>
                    <a:bodyPr lIns="152400" tIns="114300" rIns="114300" bIns="952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63B3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导出技术记录 → 返回 PPT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4DCCF"/>
                      </a:solidFill>
                      <a:prstDash val="solid"/>
                    </a:lnR>
                    <a:lnB w="9525">
                      <a:solidFill>
                        <a:srgbClr val="D4DCCF"/>
                      </a:solidFill>
                      <a:prstDash val="solid"/>
                    </a:lnB>
                    <a:solidFill>
                      <a:srgbClr val="F7F6F0"/>
                    </a:solidFill>
                  </a:tcPr>
                </a:tc>
                <a:tc>
                  <a:txBody>
                    <a:bodyPr lIns="152400" tIns="114300" rIns="114300" bIns="952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63B3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记录不含对话；本轮模型调用为 0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4DCCF"/>
                      </a:solidFill>
                      <a:prstDash val="solid"/>
                    </a:lnR>
                    <a:lnB w="9525">
                      <a:solidFill>
                        <a:srgbClr val="D4DCCF"/>
                      </a:solidFill>
                      <a:prstDash val="solid"/>
                    </a:lnB>
                    <a:solidFill>
                      <a:srgbClr val="F7F6F0"/>
                    </a:solidFill>
                  </a:tcPr>
                </a:tc>
              </a:tr>
            </a:tbl>
          </a:graphicData>
        </a:graphic>
      </p:graphicFrame>
      <p:sp>
        <p:nvSpPr>
          <p:cNvPr id="7" name="模型进度与后端暂停：新密钥接入、真实连通验证后，再加入现">
            <a:extLst xmlns:a="http://schemas.openxmlformats.org/drawingml/2006/main">
              <a:ext uri="{FF2B5EF4-FFF2-40B4-BE49-F238E27FC236}">
                <a16:creationId xmlns:a16="http://schemas.microsoft.com/office/drawing/2014/main" id="{B4FF37E7-F96A-4201-B286-A074A14261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76925"/>
            <a:ext cx="109728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75" b="0">
                <a:solidFill>
                  <a:srgbClr val="A366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875" b="0">
                <a:solidFill>
                  <a:srgbClr val="A366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875" b="0">
                <a:solidFill>
                  <a:srgbClr val="A366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875" b="0">
                <a:solidFill>
                  <a:srgbClr val="A366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875" b="0">
                <a:solidFill>
                  <a:srgbClr val="A366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875" b="0">
                <a:solidFill>
                  <a:srgbClr val="A366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875" b="0">
                <a:solidFill>
                  <a:srgbClr val="A366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875" b="0">
                <a:solidFill>
                  <a:srgbClr val="A366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875" b="0">
                <a:solidFill>
                  <a:srgbClr val="A366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875" b="0">
                <a:solidFill>
                  <a:srgbClr val="A366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A366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A36643"/>
                </a:solidFill>
                <a:latin typeface="Microsoft YaHei"/>
                <a:ea typeface="Microsoft YaHei"/>
                <a:cs typeface="Microsoft YaHei"/>
              </a:rPr>
              <a:t>模型进度与后端暂停：新密钥接入、真实连通验证后，再加入现场流程。</a:t>
            </a:r>
          </a:p>
        </p:txBody>
      </p:sp>
    </p:spTree>
    <p:extLst>
      <p:ext uri="{BB962C8B-B14F-4D97-AF65-F5344CB8AC3E}">
        <p14:creationId xmlns:p14="http://schemas.microsoft.com/office/powerpoint/2010/main" val="1418466544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7F6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07  /  当前证据">
            <a:extLst xmlns:a="http://schemas.openxmlformats.org/drawingml/2006/main">
              <a:ext uri="{FF2B5EF4-FFF2-40B4-BE49-F238E27FC236}">
                <a16:creationId xmlns:a16="http://schemas.microsoft.com/office/drawing/2014/main" id="{AD67F6CA-FAD4-4EB8-85D4-106269BF14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9525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650" b="1">
                <a:solidFill>
                  <a:srgbClr val="315C4D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buNone/>
              <a:defRPr sz="1650" b="1">
                <a:solidFill>
                  <a:srgbClr val="315C4D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buNone/>
              <a:defRPr sz="1650" b="1">
                <a:solidFill>
                  <a:srgbClr val="315C4D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buNone/>
              <a:defRPr sz="1650" b="1">
                <a:solidFill>
                  <a:srgbClr val="315C4D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buNone/>
              <a:defRPr sz="1650" b="1">
                <a:solidFill>
                  <a:srgbClr val="315C4D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buNone/>
              <a:defRPr sz="1650" b="1">
                <a:solidFill>
                  <a:srgbClr val="315C4D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buNone/>
              <a:defRPr sz="1650" b="1">
                <a:solidFill>
                  <a:srgbClr val="315C4D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buNone/>
              <a:defRPr sz="1650" b="1">
                <a:solidFill>
                  <a:srgbClr val="315C4D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buNone/>
              <a:defRPr sz="1650" b="1">
                <a:solidFill>
                  <a:srgbClr val="315C4D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buNone/>
              <a:defRPr sz="1650" b="1">
                <a:solidFill>
                  <a:srgbClr val="315C4D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buNone/>
              <a:defRPr sz="1650" b="1">
                <a:solidFill>
                  <a:srgbClr val="315C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315C4D"/>
                </a:solidFill>
                <a:latin typeface="Microsoft YaHei"/>
                <a:ea typeface="Microsoft YaHei"/>
                <a:cs typeface="Microsoft YaHei"/>
              </a:rPr>
              <a:t>08  /  当前证据与缺口</a:t>
            </a:r>
          </a:p>
        </p:txBody>
      </p:sp>
      <p:sp>
        <p:nvSpPr>
          <p:cNvPr id="2" name="可运行、可检查；效果结论仍然留空。">
            <a:extLst xmlns:a="http://schemas.openxmlformats.org/drawingml/2006/main">
              <a:ext uri="{FF2B5EF4-FFF2-40B4-BE49-F238E27FC236}">
                <a16:creationId xmlns:a16="http://schemas.microsoft.com/office/drawing/2014/main" id="{0DA3B728-16D8-47B7-A8F9-5625DA19F9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47725"/>
            <a:ext cx="11049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300" b="1">
                <a:solidFill>
                  <a:srgbClr val="263B32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buNone/>
              <a:defRPr sz="3300" b="1">
                <a:solidFill>
                  <a:srgbClr val="263B32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buNone/>
              <a:defRPr sz="3300" b="1">
                <a:solidFill>
                  <a:srgbClr val="263B32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buNone/>
              <a:defRPr sz="3300" b="1">
                <a:solidFill>
                  <a:srgbClr val="263B32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buNone/>
              <a:defRPr sz="3300" b="1">
                <a:solidFill>
                  <a:srgbClr val="263B32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buNone/>
              <a:defRPr sz="3300" b="1">
                <a:solidFill>
                  <a:srgbClr val="263B32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buNone/>
              <a:defRPr sz="3300" b="1">
                <a:solidFill>
                  <a:srgbClr val="263B32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buNone/>
              <a:defRPr sz="3300" b="1">
                <a:solidFill>
                  <a:srgbClr val="263B32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buNone/>
              <a:defRPr sz="3300" b="1">
                <a:solidFill>
                  <a:srgbClr val="263B32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buNone/>
              <a:defRPr sz="3300" b="1">
                <a:solidFill>
                  <a:srgbClr val="263B32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buNone/>
              <a:defRPr sz="3300" b="1">
                <a:solidFill>
                  <a:srgbClr val="263B3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263B32"/>
                </a:solidFill>
                <a:latin typeface="Microsoft YaHei"/>
                <a:ea typeface="Microsoft YaHei"/>
                <a:cs typeface="Microsoft YaHei"/>
              </a:rPr>
              <a:t>已验证工程行为，尚未证明心理支持效果。</a:t>
            </a:r>
          </a:p>
        </p:txBody>
      </p:sp>
      <p:sp>
        <p:nvSpPr>
          <p:cNvPr id="3" name="工程验证、开发诊断和心理支持效果，是三种不同的证据。">
            <a:extLst xmlns:a="http://schemas.openxmlformats.org/drawingml/2006/main">
              <a:ext uri="{FF2B5EF4-FFF2-40B4-BE49-F238E27FC236}">
                <a16:creationId xmlns:a16="http://schemas.microsoft.com/office/drawing/2014/main" id="{D309CA9A-F079-4357-B259-2AA04942D2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28775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950" b="0">
                <a:solidFill>
                  <a:srgbClr val="637368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buNone/>
              <a:defRPr sz="1950" b="0">
                <a:solidFill>
                  <a:srgbClr val="637368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buNone/>
              <a:defRPr sz="1950" b="0">
                <a:solidFill>
                  <a:srgbClr val="637368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buNone/>
              <a:defRPr sz="1950" b="0">
                <a:solidFill>
                  <a:srgbClr val="637368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buNone/>
              <a:defRPr sz="1950" b="0">
                <a:solidFill>
                  <a:srgbClr val="637368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buNone/>
              <a:defRPr sz="1950" b="0">
                <a:solidFill>
                  <a:srgbClr val="637368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buNone/>
              <a:defRPr sz="1950" b="0">
                <a:solidFill>
                  <a:srgbClr val="637368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buNone/>
              <a:defRPr sz="1950" b="0">
                <a:solidFill>
                  <a:srgbClr val="637368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buNone/>
              <a:defRPr sz="1950" b="0">
                <a:solidFill>
                  <a:srgbClr val="637368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buNone/>
              <a:defRPr sz="1950" b="0">
                <a:solidFill>
                  <a:srgbClr val="63736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buNone/>
              <a:defRPr sz="1950" b="0">
                <a:solidFill>
                  <a:srgbClr val="6373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637368"/>
                </a:solidFill>
                <a:latin typeface="Microsoft YaHei"/>
                <a:ea typeface="Microsoft YaHei"/>
                <a:cs typeface="Microsoft YaHei"/>
              </a:rPr>
              <a:t>对应 v0.5 实现 15535e5；本轮没有重跑或替换历史开发诊断。</a:t>
            </a:r>
          </a:p>
        </p:txBody>
      </p:sp>
      <p:sp>
        <p:nvSpPr>
          <p:cNvPr id="4" name="KinVoice  /  内部答辩演示 · 2026.1">
            <a:extLst xmlns:a="http://schemas.openxmlformats.org/drawingml/2006/main">
              <a:ext uri="{FF2B5EF4-FFF2-40B4-BE49-F238E27FC236}">
                <a16:creationId xmlns:a16="http://schemas.microsoft.com/office/drawing/2014/main" id="{167FDDFE-1A78-470A-8E73-32272836A2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48425"/>
            <a:ext cx="9620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350" b="0">
                <a:solidFill>
                  <a:srgbClr val="637368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buNone/>
              <a:defRPr sz="1350" b="0">
                <a:solidFill>
                  <a:srgbClr val="637368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buNone/>
              <a:defRPr sz="1350" b="0">
                <a:solidFill>
                  <a:srgbClr val="637368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buNone/>
              <a:defRPr sz="1350" b="0">
                <a:solidFill>
                  <a:srgbClr val="637368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buNone/>
              <a:defRPr sz="1350" b="0">
                <a:solidFill>
                  <a:srgbClr val="637368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buNone/>
              <a:defRPr sz="1350" b="0">
                <a:solidFill>
                  <a:srgbClr val="637368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buNone/>
              <a:defRPr sz="1350" b="0">
                <a:solidFill>
                  <a:srgbClr val="637368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buNone/>
              <a:defRPr sz="1350" b="0">
                <a:solidFill>
                  <a:srgbClr val="637368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buNone/>
              <a:defRPr sz="1350" b="0">
                <a:solidFill>
                  <a:srgbClr val="637368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buNone/>
              <a:defRPr sz="1350" b="0">
                <a:solidFill>
                  <a:srgbClr val="63736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buNone/>
              <a:defRPr sz="1350" b="0">
                <a:solidFill>
                  <a:srgbClr val="6373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37368"/>
                </a:solidFill>
                <a:latin typeface="Microsoft YaHei"/>
                <a:ea typeface="Microsoft YaHei"/>
                <a:cs typeface="Microsoft YaHei"/>
              </a:rPr>
              <a:t>KinVoice  /  内部答辩演示 · v0.5 · 2026.10</a:t>
            </a:r>
          </a:p>
        </p:txBody>
      </p:sp>
      <p:sp>
        <p:nvSpPr>
          <p:cNvPr id="5" name="08">
            <a:extLst xmlns:a="http://schemas.openxmlformats.org/drawingml/2006/main">
              <a:ext uri="{FF2B5EF4-FFF2-40B4-BE49-F238E27FC236}">
                <a16:creationId xmlns:a16="http://schemas.microsoft.com/office/drawing/2014/main" id="{EAADAD35-5AD4-4F22-9BF8-C569DDCA2E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77575" y="6419850"/>
            <a:ext cx="5048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500" b="1">
                <a:solidFill>
                  <a:srgbClr val="315C4D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buNone/>
              <a:defRPr sz="1500" b="1">
                <a:solidFill>
                  <a:srgbClr val="315C4D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buNone/>
              <a:defRPr sz="1500" b="1">
                <a:solidFill>
                  <a:srgbClr val="315C4D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buNone/>
              <a:defRPr sz="1500" b="1">
                <a:solidFill>
                  <a:srgbClr val="315C4D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buNone/>
              <a:defRPr sz="1500" b="1">
                <a:solidFill>
                  <a:srgbClr val="315C4D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buNone/>
              <a:defRPr sz="1500" b="1">
                <a:solidFill>
                  <a:srgbClr val="315C4D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buNone/>
              <a:defRPr sz="1500" b="1">
                <a:solidFill>
                  <a:srgbClr val="315C4D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buNone/>
              <a:defRPr sz="1500" b="1">
                <a:solidFill>
                  <a:srgbClr val="315C4D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buNone/>
              <a:defRPr sz="1500" b="1">
                <a:solidFill>
                  <a:srgbClr val="315C4D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buNone/>
              <a:defRPr sz="1500" b="1">
                <a:solidFill>
                  <a:srgbClr val="315C4D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buNone/>
              <a:defRPr sz="1500" b="1">
                <a:solidFill>
                  <a:srgbClr val="315C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315C4D"/>
                </a:solidFill>
                <a:latin typeface="Microsoft YaHei"/>
                <a:ea typeface="Microsoft YaHei"/>
                <a:cs typeface="Microsoft YaHei"/>
              </a:rPr>
              <a:t>09</a:t>
            </a:r>
          </a:p>
        </p:txBody>
      </p:sp>
      <p:sp>
        <p:nvSpPr>
          <p:cNvPr id="15" name="59 + 15">
            <a:extLst xmlns:a="http://schemas.openxmlformats.org/drawingml/2006/main">
              <a:ext uri="{FF2B5EF4-FFF2-40B4-BE49-F238E27FC236}">
                <a16:creationId xmlns:a16="http://schemas.microsoft.com/office/drawing/2014/main" id="{4B6B41A4-5A27-4119-A0EE-72DF9839A1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43175"/>
            <a:ext cx="561975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6000" b="1">
                <a:solidFill>
                  <a:srgbClr val="315C4D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6000" b="1">
                <a:solidFill>
                  <a:srgbClr val="315C4D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6000" b="1">
                <a:solidFill>
                  <a:srgbClr val="315C4D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6000" b="1">
                <a:solidFill>
                  <a:srgbClr val="315C4D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6000" b="1">
                <a:solidFill>
                  <a:srgbClr val="315C4D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6000" b="1">
                <a:solidFill>
                  <a:srgbClr val="315C4D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6000" b="1">
                <a:solidFill>
                  <a:srgbClr val="315C4D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6000" b="1">
                <a:solidFill>
                  <a:srgbClr val="315C4D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6000" b="1">
                <a:solidFill>
                  <a:srgbClr val="315C4D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6000" b="1">
                <a:solidFill>
                  <a:srgbClr val="315C4D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6000" b="1">
                <a:solidFill>
                  <a:srgbClr val="315C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000" b="1">
                <a:solidFill>
                  <a:srgbClr val="315C4D"/>
                </a:solidFill>
                <a:latin typeface="Microsoft YaHei"/>
                <a:ea typeface="Microsoft YaHei"/>
                <a:cs typeface="Microsoft YaHei"/>
              </a:rPr>
              <a:t>59 + 15</a:t>
            </a:r>
          </a:p>
        </p:txBody>
      </p:sp>
      <p:sp>
        <p:nvSpPr>
          <p:cNvPr id="16" name="后端离线测试 + 前端测试通过">
            <a:extLst xmlns:a="http://schemas.openxmlformats.org/drawingml/2006/main">
              <a:ext uri="{FF2B5EF4-FFF2-40B4-BE49-F238E27FC236}">
                <a16:creationId xmlns:a16="http://schemas.microsoft.com/office/drawing/2014/main" id="{FB35DD93-0FDA-427D-92C8-98D2E917F5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38550"/>
            <a:ext cx="5619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75" b="0">
                <a:solidFill>
                  <a:srgbClr val="263B32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75" b="0">
                <a:solidFill>
                  <a:srgbClr val="263B32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75" b="0">
                <a:solidFill>
                  <a:srgbClr val="263B32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75" b="0">
                <a:solidFill>
                  <a:srgbClr val="263B32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75" b="0">
                <a:solidFill>
                  <a:srgbClr val="263B32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75" b="0">
                <a:solidFill>
                  <a:srgbClr val="263B32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75" b="0">
                <a:solidFill>
                  <a:srgbClr val="263B32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75" b="0">
                <a:solidFill>
                  <a:srgbClr val="263B32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75" b="0">
                <a:solidFill>
                  <a:srgbClr val="263B32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75" b="0">
                <a:solidFill>
                  <a:srgbClr val="263B32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263B3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63B32"/>
                </a:solidFill>
                <a:latin typeface="Microsoft YaHei"/>
                <a:ea typeface="Microsoft YaHei"/>
                <a:cs typeface="Microsoft YaHei"/>
              </a:rPr>
              <a:t>后端离线测试 + 前端测试通过</a:t>
            </a:r>
          </a:p>
        </p:txBody>
      </p:sp>
      <p:sp>
        <p:nvSpPr>
          <p:cNvPr id="17" name="0 次">
            <a:extLst xmlns:a="http://schemas.openxmlformats.org/drawingml/2006/main">
              <a:ext uri="{FF2B5EF4-FFF2-40B4-BE49-F238E27FC236}">
                <a16:creationId xmlns:a16="http://schemas.microsoft.com/office/drawing/2014/main" id="{C0343688-9220-4C3E-8629-FDCC9C1251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2543175"/>
            <a:ext cx="39624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6000" b="1">
                <a:solidFill>
                  <a:srgbClr val="315C4D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6000" b="1">
                <a:solidFill>
                  <a:srgbClr val="315C4D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6000" b="1">
                <a:solidFill>
                  <a:srgbClr val="315C4D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6000" b="1">
                <a:solidFill>
                  <a:srgbClr val="315C4D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6000" b="1">
                <a:solidFill>
                  <a:srgbClr val="315C4D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6000" b="1">
                <a:solidFill>
                  <a:srgbClr val="315C4D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6000" b="1">
                <a:solidFill>
                  <a:srgbClr val="315C4D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6000" b="1">
                <a:solidFill>
                  <a:srgbClr val="315C4D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6000" b="1">
                <a:solidFill>
                  <a:srgbClr val="315C4D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6000" b="1">
                <a:solidFill>
                  <a:srgbClr val="315C4D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6000" b="1">
                <a:solidFill>
                  <a:srgbClr val="315C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000" b="1">
                <a:solidFill>
                  <a:srgbClr val="315C4D"/>
                </a:solidFill>
                <a:latin typeface="Microsoft YaHei"/>
                <a:ea typeface="Microsoft YaHei"/>
                <a:cs typeface="Microsoft YaHei"/>
              </a:rPr>
              <a:t>0 次</a:t>
            </a:r>
          </a:p>
        </p:txBody>
      </p:sp>
      <p:sp>
        <p:nvSpPr>
          <p:cNvPr id="18" name="真实外部模型调用">
            <a:extLst xmlns:a="http://schemas.openxmlformats.org/drawingml/2006/main">
              <a:ext uri="{FF2B5EF4-FFF2-40B4-BE49-F238E27FC236}">
                <a16:creationId xmlns:a16="http://schemas.microsoft.com/office/drawing/2014/main" id="{D2CB2C8F-FF4A-4213-A492-3E6008EA48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3638550"/>
            <a:ext cx="39624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75" b="0">
                <a:solidFill>
                  <a:srgbClr val="263B32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75" b="0">
                <a:solidFill>
                  <a:srgbClr val="263B32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75" b="0">
                <a:solidFill>
                  <a:srgbClr val="263B32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75" b="0">
                <a:solidFill>
                  <a:srgbClr val="263B32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75" b="0">
                <a:solidFill>
                  <a:srgbClr val="263B32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75" b="0">
                <a:solidFill>
                  <a:srgbClr val="263B32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75" b="0">
                <a:solidFill>
                  <a:srgbClr val="263B32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75" b="0">
                <a:solidFill>
                  <a:srgbClr val="263B32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75" b="0">
                <a:solidFill>
                  <a:srgbClr val="263B32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75" b="0">
                <a:solidFill>
                  <a:srgbClr val="263B32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263B3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63B32"/>
                </a:solidFill>
                <a:latin typeface="Microsoft YaHei"/>
                <a:ea typeface="Microsoft YaHei"/>
                <a:cs typeface="Microsoft YaHei"/>
              </a:rPr>
              <a:t>真实外部模型调用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1434456-F7DE-4099-82DA-1D3ACCA929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1007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DCCF"/>
          </a:solidFill>
          <a:ln xmlns:a="http://schemas.openxmlformats.org/drawingml/2006/main" w="0">
            <a:noFill/>
          </a:ln>
        </p:spPr>
      </p:sp>
      <p:sp>
        <p:nvSpPr>
          <p:cNvPr id="20" name="历史开发诊断">
            <a:extLst xmlns:a="http://schemas.openxmlformats.org/drawingml/2006/main">
              <a:ext uri="{FF2B5EF4-FFF2-40B4-BE49-F238E27FC236}">
                <a16:creationId xmlns:a16="http://schemas.microsoft.com/office/drawing/2014/main" id="{C6DD43F9-9CE9-4D51-B658-213DC460E0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62500"/>
            <a:ext cx="252412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75" b="1">
                <a:solidFill>
                  <a:srgbClr val="637368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75" b="1">
                <a:solidFill>
                  <a:srgbClr val="637368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75" b="1">
                <a:solidFill>
                  <a:srgbClr val="637368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75" b="1">
                <a:solidFill>
                  <a:srgbClr val="637368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75" b="1">
                <a:solidFill>
                  <a:srgbClr val="637368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75" b="1">
                <a:solidFill>
                  <a:srgbClr val="637368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75" b="1">
                <a:solidFill>
                  <a:srgbClr val="637368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75" b="1">
                <a:solidFill>
                  <a:srgbClr val="637368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75" b="1">
                <a:solidFill>
                  <a:srgbClr val="637368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75" b="1">
                <a:solidFill>
                  <a:srgbClr val="63736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75" b="1">
                <a:solidFill>
                  <a:srgbClr val="6373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637368"/>
                </a:solidFill>
                <a:latin typeface="Microsoft YaHei"/>
                <a:ea typeface="Microsoft YaHei"/>
                <a:cs typeface="Microsoft YaHei"/>
              </a:rPr>
              <a:t>历史开发诊断</a:t>
            </a:r>
          </a:p>
        </p:txBody>
      </p:sp>
      <p:sp>
        <p:nvSpPr>
          <p:cNvPr id="21" name="20 条中 2 条仍不匹配；8 对案例两端匹配。">
            <a:extLst xmlns:a="http://schemas.openxmlformats.org/drawingml/2006/main">
              <a:ext uri="{FF2B5EF4-FFF2-40B4-BE49-F238E27FC236}">
                <a16:creationId xmlns:a16="http://schemas.microsoft.com/office/drawing/2014/main" id="{1B67B537-6104-4EC5-B17D-E1E0651B57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4762500"/>
            <a:ext cx="82105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75" b="0">
                <a:solidFill>
                  <a:srgbClr val="263B32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75" b="0">
                <a:solidFill>
                  <a:srgbClr val="263B32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75" b="0">
                <a:solidFill>
                  <a:srgbClr val="263B32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75" b="0">
                <a:solidFill>
                  <a:srgbClr val="263B32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75" b="0">
                <a:solidFill>
                  <a:srgbClr val="263B32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75" b="0">
                <a:solidFill>
                  <a:srgbClr val="263B32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75" b="0">
                <a:solidFill>
                  <a:srgbClr val="263B32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75" b="0">
                <a:solidFill>
                  <a:srgbClr val="263B32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75" b="0">
                <a:solidFill>
                  <a:srgbClr val="263B32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75" b="0">
                <a:solidFill>
                  <a:srgbClr val="263B32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263B3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63B32"/>
                </a:solidFill>
                <a:latin typeface="Microsoft YaHei"/>
                <a:ea typeface="Microsoft YaHei"/>
                <a:cs typeface="Microsoft YaHei"/>
              </a:rPr>
              <a:t>20 条中 2 条仍不匹配；8 对案例两端匹配。</a:t>
            </a:r>
          </a:p>
        </p:txBody>
      </p:sp>
      <p:sp>
        <p:nvSpPr>
          <p:cNvPr id="22" name="仍待完成">
            <a:extLst xmlns:a="http://schemas.openxmlformats.org/drawingml/2006/main">
              <a:ext uri="{FF2B5EF4-FFF2-40B4-BE49-F238E27FC236}">
                <a16:creationId xmlns:a16="http://schemas.microsoft.com/office/drawing/2014/main" id="{D848D28B-50F9-4E5F-80EB-ADC22B4A4E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429250"/>
            <a:ext cx="25241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75" b="1">
                <a:solidFill>
                  <a:srgbClr val="A366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75" b="1">
                <a:solidFill>
                  <a:srgbClr val="A366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75" b="1">
                <a:solidFill>
                  <a:srgbClr val="A366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75" b="1">
                <a:solidFill>
                  <a:srgbClr val="A366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75" b="1">
                <a:solidFill>
                  <a:srgbClr val="A366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75" b="1">
                <a:solidFill>
                  <a:srgbClr val="A366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75" b="1">
                <a:solidFill>
                  <a:srgbClr val="A366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75" b="1">
                <a:solidFill>
                  <a:srgbClr val="A366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75" b="1">
                <a:solidFill>
                  <a:srgbClr val="A366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75" b="1">
                <a:solidFill>
                  <a:srgbClr val="A366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75" b="1">
                <a:solidFill>
                  <a:srgbClr val="A366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A36643"/>
                </a:solidFill>
                <a:latin typeface="Microsoft YaHei"/>
                <a:ea typeface="Microsoft YaHei"/>
                <a:cs typeface="Microsoft YaHei"/>
              </a:rPr>
              <a:t>仍待完成</a:t>
            </a:r>
          </a:p>
        </p:txBody>
      </p:sp>
      <p:sp>
        <p:nvSpPr>
          <p:cNvPr id="23" name="真实模型对照、消融、专业审阅与真人研究。">
            <a:extLst xmlns:a="http://schemas.openxmlformats.org/drawingml/2006/main">
              <a:ext uri="{FF2B5EF4-FFF2-40B4-BE49-F238E27FC236}">
                <a16:creationId xmlns:a16="http://schemas.microsoft.com/office/drawing/2014/main" id="{1E377A03-F1B2-4C38-A026-D34F019E4D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5429250"/>
            <a:ext cx="82105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75" b="1">
                <a:solidFill>
                  <a:srgbClr val="263B32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75" b="1">
                <a:solidFill>
                  <a:srgbClr val="263B32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75" b="1">
                <a:solidFill>
                  <a:srgbClr val="263B32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75" b="1">
                <a:solidFill>
                  <a:srgbClr val="263B32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75" b="1">
                <a:solidFill>
                  <a:srgbClr val="263B32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75" b="1">
                <a:solidFill>
                  <a:srgbClr val="263B32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75" b="1">
                <a:solidFill>
                  <a:srgbClr val="263B32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75" b="1">
                <a:solidFill>
                  <a:srgbClr val="263B32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75" b="1">
                <a:solidFill>
                  <a:srgbClr val="263B32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75" b="1">
                <a:solidFill>
                  <a:srgbClr val="263B32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75" b="1">
                <a:solidFill>
                  <a:srgbClr val="263B3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263B32"/>
                </a:solidFill>
                <a:latin typeface="Microsoft YaHei"/>
                <a:ea typeface="Microsoft YaHei"/>
                <a:cs typeface="Microsoft YaHei"/>
              </a:rPr>
              <a:t>真实模型对照、消融、专业审阅与真人研究。</a:t>
            </a:r>
          </a:p>
        </p:txBody>
      </p:sp>
      <p:sp>
        <p:nvSpPr>
          <p:cNvPr id="24" name="开发案例参与过实现，不能作为独立测试集或临床效果证据。">
            <a:extLst xmlns:a="http://schemas.openxmlformats.org/drawingml/2006/main">
              <a:ext uri="{FF2B5EF4-FFF2-40B4-BE49-F238E27FC236}">
                <a16:creationId xmlns:a16="http://schemas.microsoft.com/office/drawing/2014/main" id="{847118EB-1ECD-4625-B515-F22E07E85D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5953125"/>
            <a:ext cx="8210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637368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650" b="0">
                <a:solidFill>
                  <a:srgbClr val="637368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650" b="0">
                <a:solidFill>
                  <a:srgbClr val="637368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650" b="0">
                <a:solidFill>
                  <a:srgbClr val="637368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650" b="0">
                <a:solidFill>
                  <a:srgbClr val="637368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650" b="0">
                <a:solidFill>
                  <a:srgbClr val="637368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650" b="0">
                <a:solidFill>
                  <a:srgbClr val="637368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650" b="0">
                <a:solidFill>
                  <a:srgbClr val="637368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650" b="0">
                <a:solidFill>
                  <a:srgbClr val="637368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650" b="0">
                <a:solidFill>
                  <a:srgbClr val="63736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6373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637368"/>
                </a:solidFill>
                <a:latin typeface="Microsoft YaHei"/>
                <a:ea typeface="Microsoft YaHei"/>
                <a:cs typeface="Microsoft YaHei"/>
              </a:rPr>
              <a:t>开发案例参与过实现，不能作为独立测试集或临床效果证据。</a:t>
            </a:r>
          </a:p>
        </p:txBody>
      </p:sp>
    </p:spTree>
    <p:extLst>
      <p:ext uri="{BB962C8B-B14F-4D97-AF65-F5344CB8AC3E}">
        <p14:creationId xmlns:p14="http://schemas.microsoft.com/office/powerpoint/2010/main" val="2013830020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315C4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08  /  下一步">
            <a:extLst xmlns:a="http://schemas.openxmlformats.org/drawingml/2006/main">
              <a:ext uri="{FF2B5EF4-FFF2-40B4-BE49-F238E27FC236}">
                <a16:creationId xmlns:a16="http://schemas.microsoft.com/office/drawing/2014/main" id="{6939ED9D-7C76-4E25-8AF8-258901865B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9525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650" b="1">
                <a:solidFill>
                  <a:srgbClr val="D5E0D4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buNone/>
              <a:defRPr sz="1650" b="1">
                <a:solidFill>
                  <a:srgbClr val="D5E0D4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buNone/>
              <a:defRPr sz="1650" b="1">
                <a:solidFill>
                  <a:srgbClr val="D5E0D4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buNone/>
              <a:defRPr sz="1650" b="1">
                <a:solidFill>
                  <a:srgbClr val="D5E0D4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buNone/>
              <a:defRPr sz="1650" b="1">
                <a:solidFill>
                  <a:srgbClr val="D5E0D4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buNone/>
              <a:defRPr sz="1650" b="1">
                <a:solidFill>
                  <a:srgbClr val="D5E0D4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buNone/>
              <a:defRPr sz="1650" b="1">
                <a:solidFill>
                  <a:srgbClr val="D5E0D4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buNone/>
              <a:defRPr sz="1650" b="1">
                <a:solidFill>
                  <a:srgbClr val="D5E0D4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buNone/>
              <a:defRPr sz="1650" b="1">
                <a:solidFill>
                  <a:srgbClr val="D5E0D4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buNone/>
              <a:defRPr sz="1650" b="1">
                <a:solidFill>
                  <a:srgbClr val="D5E0D4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buNone/>
              <a:defRPr sz="1650" b="1">
                <a:solidFill>
                  <a:srgbClr val="D5E0D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D5E0D4"/>
                </a:solidFill>
                <a:latin typeface="Microsoft YaHei"/>
                <a:ea typeface="Microsoft YaHei"/>
                <a:cs typeface="Microsoft YaHei"/>
              </a:rPr>
              <a:t>09  /  回到小林，此刻保留选择</a:t>
            </a:r>
          </a:p>
        </p:txBody>
      </p:sp>
      <p:sp>
        <p:nvSpPr>
          <p:cNvPr id="2" name="先把三个关键判断，做成经得住追问的证据。">
            <a:extLst xmlns:a="http://schemas.openxmlformats.org/drawingml/2006/main">
              <a:ext uri="{FF2B5EF4-FFF2-40B4-BE49-F238E27FC236}">
                <a16:creationId xmlns:a16="http://schemas.microsoft.com/office/drawing/2014/main" id="{0E707DCA-3756-413F-903D-54A58C0234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47725"/>
            <a:ext cx="11049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300" b="1">
                <a:solidFill>
                  <a:srgbClr val="F7F6F0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buNone/>
              <a:defRPr sz="3300" b="1">
                <a:solidFill>
                  <a:srgbClr val="F7F6F0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buNone/>
              <a:defRPr sz="3300" b="1">
                <a:solidFill>
                  <a:srgbClr val="F7F6F0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buNone/>
              <a:defRPr sz="3300" b="1">
                <a:solidFill>
                  <a:srgbClr val="F7F6F0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buNone/>
              <a:defRPr sz="3300" b="1">
                <a:solidFill>
                  <a:srgbClr val="F7F6F0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buNone/>
              <a:defRPr sz="3300" b="1">
                <a:solidFill>
                  <a:srgbClr val="F7F6F0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buNone/>
              <a:defRPr sz="3300" b="1">
                <a:solidFill>
                  <a:srgbClr val="F7F6F0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buNone/>
              <a:defRPr sz="3300" b="1">
                <a:solidFill>
                  <a:srgbClr val="F7F6F0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buNone/>
              <a:defRPr sz="3300" b="1">
                <a:solidFill>
                  <a:srgbClr val="F7F6F0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buNone/>
              <a:defRPr sz="3300" b="1">
                <a:solidFill>
                  <a:srgbClr val="F7F6F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buNone/>
              <a:defRPr sz="3300" b="1">
                <a:solidFill>
                  <a:srgbClr val="F7F6F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F7F6F0"/>
                </a:solidFill>
                <a:latin typeface="Microsoft YaHei"/>
                <a:ea typeface="Microsoft YaHei"/>
                <a:cs typeface="Microsoft YaHei"/>
              </a:rPr>
              <a:t>先被听见，再决定要不要表达。</a:t>
            </a:r>
          </a:p>
        </p:txBody>
      </p:sp>
      <p:sp>
        <p:nvSpPr>
          <p:cNvPr id="3" name="保持演示稳定，把新增投入放在真实比较与专业审阅。">
            <a:extLst xmlns:a="http://schemas.openxmlformats.org/drawingml/2006/main">
              <a:ext uri="{FF2B5EF4-FFF2-40B4-BE49-F238E27FC236}">
                <a16:creationId xmlns:a16="http://schemas.microsoft.com/office/drawing/2014/main" id="{054A2811-A1BF-49E6-9288-F0013738BD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28775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950" b="0">
                <a:solidFill>
                  <a:srgbClr val="D5E0D4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buNone/>
              <a:defRPr sz="1950" b="0">
                <a:solidFill>
                  <a:srgbClr val="D5E0D4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buNone/>
              <a:defRPr sz="1950" b="0">
                <a:solidFill>
                  <a:srgbClr val="D5E0D4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buNone/>
              <a:defRPr sz="1950" b="0">
                <a:solidFill>
                  <a:srgbClr val="D5E0D4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buNone/>
              <a:defRPr sz="1950" b="0">
                <a:solidFill>
                  <a:srgbClr val="D5E0D4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buNone/>
              <a:defRPr sz="1950" b="0">
                <a:solidFill>
                  <a:srgbClr val="D5E0D4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buNone/>
              <a:defRPr sz="1950" b="0">
                <a:solidFill>
                  <a:srgbClr val="D5E0D4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buNone/>
              <a:defRPr sz="1950" b="0">
                <a:solidFill>
                  <a:srgbClr val="D5E0D4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buNone/>
              <a:defRPr sz="1950" b="0">
                <a:solidFill>
                  <a:srgbClr val="D5E0D4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buNone/>
              <a:defRPr sz="1950" b="0">
                <a:solidFill>
                  <a:srgbClr val="D5E0D4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buNone/>
              <a:defRPr sz="1950" b="0">
                <a:solidFill>
                  <a:srgbClr val="D5E0D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D5E0D4"/>
                </a:solidFill>
                <a:latin typeface="Microsoft YaHei"/>
                <a:ea typeface="Microsoft YaHei"/>
                <a:cs typeface="Microsoft YaHei"/>
              </a:rPr>
              <a:t>KinVoice 的目标：让支持方式尊重当下意愿，并留下可检查的依据。</a:t>
            </a:r>
          </a:p>
        </p:txBody>
      </p:sp>
      <p:sp>
        <p:nvSpPr>
          <p:cNvPr id="4" name="KinVoice  /  内部答辩演示 · 2026.1">
            <a:extLst xmlns:a="http://schemas.openxmlformats.org/drawingml/2006/main">
              <a:ext uri="{FF2B5EF4-FFF2-40B4-BE49-F238E27FC236}">
                <a16:creationId xmlns:a16="http://schemas.microsoft.com/office/drawing/2014/main" id="{BBD0B12C-F9F9-49FA-A896-9D34022ADA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48425"/>
            <a:ext cx="9620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350" b="0">
                <a:solidFill>
                  <a:srgbClr val="D5E0D4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buNone/>
              <a:defRPr sz="1350" b="0">
                <a:solidFill>
                  <a:srgbClr val="D5E0D4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buNone/>
              <a:defRPr sz="1350" b="0">
                <a:solidFill>
                  <a:srgbClr val="D5E0D4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buNone/>
              <a:defRPr sz="1350" b="0">
                <a:solidFill>
                  <a:srgbClr val="D5E0D4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buNone/>
              <a:defRPr sz="1350" b="0">
                <a:solidFill>
                  <a:srgbClr val="D5E0D4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buNone/>
              <a:defRPr sz="1350" b="0">
                <a:solidFill>
                  <a:srgbClr val="D5E0D4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buNone/>
              <a:defRPr sz="1350" b="0">
                <a:solidFill>
                  <a:srgbClr val="D5E0D4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buNone/>
              <a:defRPr sz="1350" b="0">
                <a:solidFill>
                  <a:srgbClr val="D5E0D4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buNone/>
              <a:defRPr sz="1350" b="0">
                <a:solidFill>
                  <a:srgbClr val="D5E0D4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buNone/>
              <a:defRPr sz="1350" b="0">
                <a:solidFill>
                  <a:srgbClr val="D5E0D4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buNone/>
              <a:defRPr sz="1350" b="0">
                <a:solidFill>
                  <a:srgbClr val="D5E0D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D5E0D4"/>
                </a:solidFill>
                <a:latin typeface="Microsoft YaHei"/>
                <a:ea typeface="Microsoft YaHei"/>
                <a:cs typeface="Microsoft YaHei"/>
              </a:rPr>
              <a:t>KinVoice  /  内部答辩演示 · v0.5 · 2026.10</a:t>
            </a:r>
          </a:p>
        </p:txBody>
      </p:sp>
      <p:sp>
        <p:nvSpPr>
          <p:cNvPr id="5" name="09">
            <a:extLst xmlns:a="http://schemas.openxmlformats.org/drawingml/2006/main">
              <a:ext uri="{FF2B5EF4-FFF2-40B4-BE49-F238E27FC236}">
                <a16:creationId xmlns:a16="http://schemas.microsoft.com/office/drawing/2014/main" id="{1CD88B64-7621-4D88-87C8-D4B26383C3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77575" y="6419850"/>
            <a:ext cx="5048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500" b="1">
                <a:solidFill>
                  <a:srgbClr val="F7F6F0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buNone/>
              <a:defRPr sz="1500" b="1">
                <a:solidFill>
                  <a:srgbClr val="F7F6F0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buNone/>
              <a:defRPr sz="1500" b="1">
                <a:solidFill>
                  <a:srgbClr val="F7F6F0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buNone/>
              <a:defRPr sz="1500" b="1">
                <a:solidFill>
                  <a:srgbClr val="F7F6F0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buNone/>
              <a:defRPr sz="1500" b="1">
                <a:solidFill>
                  <a:srgbClr val="F7F6F0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buNone/>
              <a:defRPr sz="1500" b="1">
                <a:solidFill>
                  <a:srgbClr val="F7F6F0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buNone/>
              <a:defRPr sz="1500" b="1">
                <a:solidFill>
                  <a:srgbClr val="F7F6F0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buNone/>
              <a:defRPr sz="1500" b="1">
                <a:solidFill>
                  <a:srgbClr val="F7F6F0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buNone/>
              <a:defRPr sz="1500" b="1">
                <a:solidFill>
                  <a:srgbClr val="F7F6F0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buNone/>
              <a:defRPr sz="1500" b="1">
                <a:solidFill>
                  <a:srgbClr val="F7F6F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buNone/>
              <a:defRPr sz="1500" b="1">
                <a:solidFill>
                  <a:srgbClr val="F7F6F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F7F6F0"/>
                </a:solidFill>
                <a:latin typeface="Microsoft YaHei"/>
                <a:ea typeface="Microsoft YaHei"/>
                <a:cs typeface="Microsoft YaHei"/>
              </a:rPr>
              <a:t>10</a:t>
            </a:r>
          </a:p>
        </p:txBody>
      </p:sp>
      <p:sp>
        <p:nvSpPr>
          <p:cNvPr id="6" name="演示与讲稿">
            <a:extLst xmlns:a="http://schemas.openxmlformats.org/drawingml/2006/main">
              <a:ext uri="{FF2B5EF4-FFF2-40B4-BE49-F238E27FC236}">
                <a16:creationId xmlns:a16="http://schemas.microsoft.com/office/drawing/2014/main" id="{193FCC8A-FF7C-4F06-A82B-CD8D929DC9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38425"/>
            <a:ext cx="285750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700" b="1">
                <a:solidFill>
                  <a:srgbClr val="F7F6F0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buNone/>
              <a:defRPr sz="2700" b="1">
                <a:solidFill>
                  <a:srgbClr val="F7F6F0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buNone/>
              <a:defRPr sz="2700" b="1">
                <a:solidFill>
                  <a:srgbClr val="F7F6F0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buNone/>
              <a:defRPr sz="2700" b="1">
                <a:solidFill>
                  <a:srgbClr val="F7F6F0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buNone/>
              <a:defRPr sz="2700" b="1">
                <a:solidFill>
                  <a:srgbClr val="F7F6F0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buNone/>
              <a:defRPr sz="2700" b="1">
                <a:solidFill>
                  <a:srgbClr val="F7F6F0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buNone/>
              <a:defRPr sz="2700" b="1">
                <a:solidFill>
                  <a:srgbClr val="F7F6F0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buNone/>
              <a:defRPr sz="2700" b="1">
                <a:solidFill>
                  <a:srgbClr val="F7F6F0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buNone/>
              <a:defRPr sz="2700" b="1">
                <a:solidFill>
                  <a:srgbClr val="F7F6F0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buNone/>
              <a:defRPr sz="2700" b="1">
                <a:solidFill>
                  <a:srgbClr val="F7F6F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buNone/>
              <a:defRPr sz="2700" b="1">
                <a:solidFill>
                  <a:srgbClr val="F7F6F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F7F6F0"/>
                </a:solidFill>
                <a:latin typeface="Microsoft YaHei"/>
                <a:ea typeface="Microsoft YaHei"/>
                <a:cs typeface="Microsoft YaHei"/>
              </a:rPr>
              <a:t>已能演示</a:t>
            </a:r>
          </a:p>
        </p:txBody>
      </p:sp>
      <p:sp>
        <p:nvSpPr>
          <p:cNvPr id="7" name="能解释为什么澄清、为什么倾听、为什么限制草稿。">
            <a:extLst xmlns:a="http://schemas.openxmlformats.org/drawingml/2006/main">
              <a:ext uri="{FF2B5EF4-FFF2-40B4-BE49-F238E27FC236}">
                <a16:creationId xmlns:a16="http://schemas.microsoft.com/office/drawing/2014/main" id="{DA8359B0-9386-4B6C-BD41-22A7E1D07F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2667000"/>
            <a:ext cx="76962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75" b="0">
                <a:solidFill>
                  <a:srgbClr val="DFE7DC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buNone/>
              <a:defRPr sz="2175" b="0">
                <a:solidFill>
                  <a:srgbClr val="DFE7DC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buNone/>
              <a:defRPr sz="2175" b="0">
                <a:solidFill>
                  <a:srgbClr val="DFE7DC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buNone/>
              <a:defRPr sz="2175" b="0">
                <a:solidFill>
                  <a:srgbClr val="DFE7DC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buNone/>
              <a:defRPr sz="2175" b="0">
                <a:solidFill>
                  <a:srgbClr val="DFE7DC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buNone/>
              <a:defRPr sz="2175" b="0">
                <a:solidFill>
                  <a:srgbClr val="DFE7DC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buNone/>
              <a:defRPr sz="2175" b="0">
                <a:solidFill>
                  <a:srgbClr val="DFE7DC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buNone/>
              <a:defRPr sz="2175" b="0">
                <a:solidFill>
                  <a:srgbClr val="DFE7DC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buNone/>
              <a:defRPr sz="2175" b="0">
                <a:solidFill>
                  <a:srgbClr val="DFE7DC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buNone/>
              <a:defRPr sz="2175" b="0">
                <a:solidFill>
                  <a:srgbClr val="DFE7D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buNone/>
              <a:defRPr sz="2175" b="0">
                <a:solidFill>
                  <a:srgbClr val="DFE7D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DFE7DC"/>
                </a:solidFill>
                <a:latin typeface="Microsoft YaHei"/>
                <a:ea typeface="Microsoft YaHei"/>
                <a:cs typeface="Microsoft YaHei"/>
              </a:rPr>
              <a:t>拒绝建议如何改变策略，家庭不安全时怎样限制草稿。</a:t>
            </a:r>
          </a:p>
        </p:txBody>
      </p:sp>
      <p:sp>
        <p:nvSpPr>
          <p:cNvPr id="8" name="模型对照">
            <a:extLst xmlns:a="http://schemas.openxmlformats.org/drawingml/2006/main">
              <a:ext uri="{FF2B5EF4-FFF2-40B4-BE49-F238E27FC236}">
                <a16:creationId xmlns:a16="http://schemas.microsoft.com/office/drawing/2014/main" id="{AC82A0EE-E1E1-417F-8383-98BAB4B55B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33800"/>
            <a:ext cx="285750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700" b="1">
                <a:solidFill>
                  <a:srgbClr val="F7F6F0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buNone/>
              <a:defRPr sz="2700" b="1">
                <a:solidFill>
                  <a:srgbClr val="F7F6F0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buNone/>
              <a:defRPr sz="2700" b="1">
                <a:solidFill>
                  <a:srgbClr val="F7F6F0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buNone/>
              <a:defRPr sz="2700" b="1">
                <a:solidFill>
                  <a:srgbClr val="F7F6F0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buNone/>
              <a:defRPr sz="2700" b="1">
                <a:solidFill>
                  <a:srgbClr val="F7F6F0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buNone/>
              <a:defRPr sz="2700" b="1">
                <a:solidFill>
                  <a:srgbClr val="F7F6F0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buNone/>
              <a:defRPr sz="2700" b="1">
                <a:solidFill>
                  <a:srgbClr val="F7F6F0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buNone/>
              <a:defRPr sz="2700" b="1">
                <a:solidFill>
                  <a:srgbClr val="F7F6F0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buNone/>
              <a:defRPr sz="2700" b="1">
                <a:solidFill>
                  <a:srgbClr val="F7F6F0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buNone/>
              <a:defRPr sz="2700" b="1">
                <a:solidFill>
                  <a:srgbClr val="F7F6F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buNone/>
              <a:defRPr sz="2700" b="1">
                <a:solidFill>
                  <a:srgbClr val="F7F6F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F7F6F0"/>
                </a:solidFill>
                <a:latin typeface="Microsoft YaHei"/>
                <a:ea typeface="Microsoft YaHei"/>
                <a:cs typeface="Microsoft YaHei"/>
              </a:rPr>
              <a:t>接下来验证</a:t>
            </a:r>
          </a:p>
        </p:txBody>
      </p:sp>
      <p:sp>
        <p:nvSpPr>
          <p:cNvPr id="9" name="真实模型、强基线、消融；报告收益，也报告代价。">
            <a:extLst xmlns:a="http://schemas.openxmlformats.org/drawingml/2006/main">
              <a:ext uri="{FF2B5EF4-FFF2-40B4-BE49-F238E27FC236}">
                <a16:creationId xmlns:a16="http://schemas.microsoft.com/office/drawing/2014/main" id="{26ADB307-6E24-4DC6-8605-EC94B03AF4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3762375"/>
            <a:ext cx="76962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75" b="0">
                <a:solidFill>
                  <a:srgbClr val="DFE7DC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buNone/>
              <a:defRPr sz="2175" b="0">
                <a:solidFill>
                  <a:srgbClr val="DFE7DC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buNone/>
              <a:defRPr sz="2175" b="0">
                <a:solidFill>
                  <a:srgbClr val="DFE7DC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buNone/>
              <a:defRPr sz="2175" b="0">
                <a:solidFill>
                  <a:srgbClr val="DFE7DC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buNone/>
              <a:defRPr sz="2175" b="0">
                <a:solidFill>
                  <a:srgbClr val="DFE7DC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buNone/>
              <a:defRPr sz="2175" b="0">
                <a:solidFill>
                  <a:srgbClr val="DFE7DC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buNone/>
              <a:defRPr sz="2175" b="0">
                <a:solidFill>
                  <a:srgbClr val="DFE7DC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buNone/>
              <a:defRPr sz="2175" b="0">
                <a:solidFill>
                  <a:srgbClr val="DFE7DC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buNone/>
              <a:defRPr sz="2175" b="0">
                <a:solidFill>
                  <a:srgbClr val="DFE7DC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buNone/>
              <a:defRPr sz="2175" b="0">
                <a:solidFill>
                  <a:srgbClr val="DFE7D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buNone/>
              <a:defRPr sz="2175" b="0">
                <a:solidFill>
                  <a:srgbClr val="DFE7D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DFE7DC"/>
                </a:solidFill>
                <a:latin typeface="Microsoft YaHei"/>
                <a:ea typeface="Microsoft YaHei"/>
                <a:cs typeface="Microsoft YaHei"/>
              </a:rPr>
              <a:t>接入新密钥，冻结强基线和预算；保留失败与成本。</a:t>
            </a:r>
          </a:p>
        </p:txBody>
      </p:sp>
      <p:sp>
        <p:nvSpPr>
          <p:cNvPr id="10" name="专业审阅">
            <a:extLst xmlns:a="http://schemas.openxmlformats.org/drawingml/2006/main">
              <a:ext uri="{FF2B5EF4-FFF2-40B4-BE49-F238E27FC236}">
                <a16:creationId xmlns:a16="http://schemas.microsoft.com/office/drawing/2014/main" id="{A87895F7-53B6-4968-8DC2-9958D88034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29175"/>
            <a:ext cx="285750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700" b="1">
                <a:solidFill>
                  <a:srgbClr val="F7F6F0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buNone/>
              <a:defRPr sz="2700" b="1">
                <a:solidFill>
                  <a:srgbClr val="F7F6F0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buNone/>
              <a:defRPr sz="2700" b="1">
                <a:solidFill>
                  <a:srgbClr val="F7F6F0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buNone/>
              <a:defRPr sz="2700" b="1">
                <a:solidFill>
                  <a:srgbClr val="F7F6F0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buNone/>
              <a:defRPr sz="2700" b="1">
                <a:solidFill>
                  <a:srgbClr val="F7F6F0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buNone/>
              <a:defRPr sz="2700" b="1">
                <a:solidFill>
                  <a:srgbClr val="F7F6F0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buNone/>
              <a:defRPr sz="2700" b="1">
                <a:solidFill>
                  <a:srgbClr val="F7F6F0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buNone/>
              <a:defRPr sz="2700" b="1">
                <a:solidFill>
                  <a:srgbClr val="F7F6F0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buNone/>
              <a:defRPr sz="2700" b="1">
                <a:solidFill>
                  <a:srgbClr val="F7F6F0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buNone/>
              <a:defRPr sz="2700" b="1">
                <a:solidFill>
                  <a:srgbClr val="F7F6F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buNone/>
              <a:defRPr sz="2700" b="1">
                <a:solidFill>
                  <a:srgbClr val="F7F6F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F7F6F0"/>
                </a:solidFill>
                <a:latin typeface="Microsoft YaHei"/>
                <a:ea typeface="Microsoft YaHei"/>
                <a:cs typeface="Microsoft YaHei"/>
              </a:rPr>
              <a:t>专业合作</a:t>
            </a:r>
          </a:p>
        </p:txBody>
      </p:sp>
      <p:sp>
        <p:nvSpPr>
          <p:cNvPr id="11" name="审核、授权与伦理条件明确后，再推进真人研究。">
            <a:extLst xmlns:a="http://schemas.openxmlformats.org/drawingml/2006/main">
              <a:ext uri="{FF2B5EF4-FFF2-40B4-BE49-F238E27FC236}">
                <a16:creationId xmlns:a16="http://schemas.microsoft.com/office/drawing/2014/main" id="{311DA456-95E8-4059-8F82-49969BD7E6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4857750"/>
            <a:ext cx="76962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75" b="0">
                <a:solidFill>
                  <a:srgbClr val="DFE7DC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buNone/>
              <a:defRPr sz="2175" b="0">
                <a:solidFill>
                  <a:srgbClr val="DFE7DC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buNone/>
              <a:defRPr sz="2175" b="0">
                <a:solidFill>
                  <a:srgbClr val="DFE7DC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buNone/>
              <a:defRPr sz="2175" b="0">
                <a:solidFill>
                  <a:srgbClr val="DFE7DC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buNone/>
              <a:defRPr sz="2175" b="0">
                <a:solidFill>
                  <a:srgbClr val="DFE7DC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buNone/>
              <a:defRPr sz="2175" b="0">
                <a:solidFill>
                  <a:srgbClr val="DFE7DC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buNone/>
              <a:defRPr sz="2175" b="0">
                <a:solidFill>
                  <a:srgbClr val="DFE7DC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buNone/>
              <a:defRPr sz="2175" b="0">
                <a:solidFill>
                  <a:srgbClr val="DFE7DC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buNone/>
              <a:defRPr sz="2175" b="0">
                <a:solidFill>
                  <a:srgbClr val="DFE7DC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buNone/>
              <a:defRPr sz="2175" b="0">
                <a:solidFill>
                  <a:srgbClr val="DFE7D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buNone/>
              <a:defRPr sz="2175" b="0">
                <a:solidFill>
                  <a:srgbClr val="DFE7D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DFE7DC"/>
                </a:solidFill>
                <a:latin typeface="Microsoft YaHei"/>
                <a:ea typeface="Microsoft YaHei"/>
                <a:cs typeface="Microsoft YaHei"/>
              </a:rPr>
              <a:t>请专业老师审阅标签与策略，明确伦理条件后做真人研究。</a:t>
            </a:r>
          </a:p>
        </p:txBody>
      </p:sp>
      <p:sp>
        <p:nvSpPr>
          <p:cNvPr id="12" name="让“回应得合适”，成为一个能检验的技术问题。">
            <a:extLst xmlns:a="http://schemas.openxmlformats.org/drawingml/2006/main">
              <a:ext uri="{FF2B5EF4-FFF2-40B4-BE49-F238E27FC236}">
                <a16:creationId xmlns:a16="http://schemas.microsoft.com/office/drawing/2014/main" id="{5028826C-B520-499E-AEFB-DF8770DA59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00750"/>
            <a:ext cx="1097280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00" b="1">
                <a:solidFill>
                  <a:srgbClr val="F7F6F0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buNone/>
              <a:defRPr sz="2100" b="1">
                <a:solidFill>
                  <a:srgbClr val="F7F6F0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buNone/>
              <a:defRPr sz="2100" b="1">
                <a:solidFill>
                  <a:srgbClr val="F7F6F0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buNone/>
              <a:defRPr sz="2100" b="1">
                <a:solidFill>
                  <a:srgbClr val="F7F6F0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buNone/>
              <a:defRPr sz="2100" b="1">
                <a:solidFill>
                  <a:srgbClr val="F7F6F0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buNone/>
              <a:defRPr sz="2100" b="1">
                <a:solidFill>
                  <a:srgbClr val="F7F6F0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buNone/>
              <a:defRPr sz="2100" b="1">
                <a:solidFill>
                  <a:srgbClr val="F7F6F0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buNone/>
              <a:defRPr sz="2100" b="1">
                <a:solidFill>
                  <a:srgbClr val="F7F6F0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buNone/>
              <a:defRPr sz="2100" b="1">
                <a:solidFill>
                  <a:srgbClr val="F7F6F0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buNone/>
              <a:defRPr sz="2100" b="1">
                <a:solidFill>
                  <a:srgbClr val="F7F6F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buNone/>
              <a:defRPr sz="2100" b="1">
                <a:solidFill>
                  <a:srgbClr val="F7F6F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F7F6F0"/>
                </a:solidFill>
                <a:latin typeface="Microsoft YaHei"/>
                <a:ea typeface="Microsoft YaHei"/>
                <a:cs typeface="Microsoft YaHei"/>
              </a:rPr>
              <a:t>让“回应得合适”，成为一个能检验的技术问题。</a:t>
            </a:r>
          </a:p>
        </p:txBody>
      </p:sp>
    </p:spTree>
    <p:extLst>
      <p:ext uri="{BB962C8B-B14F-4D97-AF65-F5344CB8AC3E}">
        <p14:creationId xmlns:p14="http://schemas.microsoft.com/office/powerpoint/2010/main" val="1513166573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7F6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备答 A  /  与已有工作怎么区分">
            <a:extLst xmlns:a="http://schemas.openxmlformats.org/drawingml/2006/main">
              <a:ext uri="{FF2B5EF4-FFF2-40B4-BE49-F238E27FC236}">
                <a16:creationId xmlns:a16="http://schemas.microsoft.com/office/drawing/2014/main" id="{28CB56A6-7326-47FE-8CCD-59679BA395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9525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650" b="1">
                <a:solidFill>
                  <a:srgbClr val="315C4D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650" b="1">
                <a:solidFill>
                  <a:srgbClr val="315C4D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650" b="1">
                <a:solidFill>
                  <a:srgbClr val="315C4D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650" b="1">
                <a:solidFill>
                  <a:srgbClr val="315C4D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650" b="1">
                <a:solidFill>
                  <a:srgbClr val="315C4D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650" b="1">
                <a:solidFill>
                  <a:srgbClr val="315C4D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650" b="1">
                <a:solidFill>
                  <a:srgbClr val="315C4D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650" b="1">
                <a:solidFill>
                  <a:srgbClr val="315C4D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650" b="1">
                <a:solidFill>
                  <a:srgbClr val="315C4D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650" b="1">
                <a:solidFill>
                  <a:srgbClr val="315C4D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650" b="1">
                <a:solidFill>
                  <a:srgbClr val="315C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315C4D"/>
                </a:solidFill>
                <a:latin typeface="Microsoft YaHei"/>
                <a:ea typeface="Microsoft YaHei"/>
                <a:cs typeface="Microsoft YaHei"/>
              </a:rPr>
              <a:t>备答 A  /  与已有工作怎么区分</a:t>
            </a:r>
          </a:p>
        </p:txBody>
      </p:sp>
      <p:sp>
        <p:nvSpPr>
          <p:cNvPr id="2" name="研究贡献要靠对照证明，通用概念不作首创。">
            <a:extLst xmlns:a="http://schemas.openxmlformats.org/drawingml/2006/main">
              <a:ext uri="{FF2B5EF4-FFF2-40B4-BE49-F238E27FC236}">
                <a16:creationId xmlns:a16="http://schemas.microsoft.com/office/drawing/2014/main" id="{6A45D305-334B-4266-8355-FC0F556F74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47725"/>
            <a:ext cx="11049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300" b="1">
                <a:solidFill>
                  <a:srgbClr val="263B32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300" b="1">
                <a:solidFill>
                  <a:srgbClr val="263B32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300" b="1">
                <a:solidFill>
                  <a:srgbClr val="263B32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300" b="1">
                <a:solidFill>
                  <a:srgbClr val="263B32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300" b="1">
                <a:solidFill>
                  <a:srgbClr val="263B32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300" b="1">
                <a:solidFill>
                  <a:srgbClr val="263B32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300" b="1">
                <a:solidFill>
                  <a:srgbClr val="263B32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300" b="1">
                <a:solidFill>
                  <a:srgbClr val="263B32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300" b="1">
                <a:solidFill>
                  <a:srgbClr val="263B32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300" b="1">
                <a:solidFill>
                  <a:srgbClr val="263B32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263B3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263B32"/>
                </a:solidFill>
                <a:latin typeface="Microsoft YaHei"/>
                <a:ea typeface="Microsoft YaHei"/>
                <a:cs typeface="Microsoft YaHei"/>
              </a:rPr>
              <a:t>研究贡献要靠对照证明，通用概念不作首创。</a:t>
            </a:r>
          </a:p>
        </p:txBody>
      </p:sp>
      <p:sp>
        <p:nvSpPr>
          <p:cNvPr id="3" name="已核对下列官方摘要和书目信息；尚未完成全文层面的新颖性审">
            <a:extLst xmlns:a="http://schemas.openxmlformats.org/drawingml/2006/main">
              <a:ext uri="{FF2B5EF4-FFF2-40B4-BE49-F238E27FC236}">
                <a16:creationId xmlns:a16="http://schemas.microsoft.com/office/drawing/2014/main" id="{9F8A9C2D-AF0A-4622-B006-AB5D1C4AA1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28775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950" b="0">
                <a:solidFill>
                  <a:srgbClr val="637368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950" b="0">
                <a:solidFill>
                  <a:srgbClr val="637368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950" b="0">
                <a:solidFill>
                  <a:srgbClr val="637368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950" b="0">
                <a:solidFill>
                  <a:srgbClr val="637368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950" b="0">
                <a:solidFill>
                  <a:srgbClr val="637368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950" b="0">
                <a:solidFill>
                  <a:srgbClr val="637368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950" b="0">
                <a:solidFill>
                  <a:srgbClr val="637368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950" b="0">
                <a:solidFill>
                  <a:srgbClr val="637368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950" b="0">
                <a:solidFill>
                  <a:srgbClr val="637368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950" b="0">
                <a:solidFill>
                  <a:srgbClr val="63736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950" b="0">
                <a:solidFill>
                  <a:srgbClr val="6373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637368"/>
                </a:solidFill>
                <a:latin typeface="Microsoft YaHei"/>
                <a:ea typeface="Microsoft YaHei"/>
                <a:cs typeface="Microsoft YaHei"/>
              </a:rPr>
              <a:t>已核对下列官方摘要和书目信息；尚未完成全文层面的新颖性审查。</a:t>
            </a:r>
          </a:p>
        </p:txBody>
      </p:sp>
      <p:sp>
        <p:nvSpPr>
          <p:cNvPr id="4" name="KinVoice  /  内部答辩演示 · v0.5 ·">
            <a:extLst xmlns:a="http://schemas.openxmlformats.org/drawingml/2006/main">
              <a:ext uri="{FF2B5EF4-FFF2-40B4-BE49-F238E27FC236}">
                <a16:creationId xmlns:a16="http://schemas.microsoft.com/office/drawing/2014/main" id="{447F51EE-6FC3-4244-BA71-F66E8DA387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48425"/>
            <a:ext cx="9620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350" b="0">
                <a:solidFill>
                  <a:srgbClr val="637368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350" b="0">
                <a:solidFill>
                  <a:srgbClr val="637368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350" b="0">
                <a:solidFill>
                  <a:srgbClr val="637368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350" b="0">
                <a:solidFill>
                  <a:srgbClr val="637368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350" b="0">
                <a:solidFill>
                  <a:srgbClr val="637368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350" b="0">
                <a:solidFill>
                  <a:srgbClr val="637368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350" b="0">
                <a:solidFill>
                  <a:srgbClr val="637368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350" b="0">
                <a:solidFill>
                  <a:srgbClr val="637368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350" b="0">
                <a:solidFill>
                  <a:srgbClr val="637368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350" b="0">
                <a:solidFill>
                  <a:srgbClr val="63736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6373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37368"/>
                </a:solidFill>
                <a:latin typeface="Microsoft YaHei"/>
                <a:ea typeface="Microsoft YaHei"/>
                <a:cs typeface="Microsoft YaHei"/>
              </a:rPr>
              <a:t>KinVoice  /  内部答辩演示 · v0.5 · 2026.10</a:t>
            </a:r>
          </a:p>
        </p:txBody>
      </p:sp>
      <p:sp>
        <p:nvSpPr>
          <p:cNvPr id="5" name="00">
            <a:extLst xmlns:a="http://schemas.openxmlformats.org/drawingml/2006/main">
              <a:ext uri="{FF2B5EF4-FFF2-40B4-BE49-F238E27FC236}">
                <a16:creationId xmlns:a16="http://schemas.microsoft.com/office/drawing/2014/main" id="{EBDF9A33-A98A-46F5-AD6C-5A653C544D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77575" y="6419850"/>
            <a:ext cx="5048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500" b="1">
                <a:solidFill>
                  <a:srgbClr val="315C4D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00" b="1">
                <a:solidFill>
                  <a:srgbClr val="315C4D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00" b="1">
                <a:solidFill>
                  <a:srgbClr val="315C4D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00" b="1">
                <a:solidFill>
                  <a:srgbClr val="315C4D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00" b="1">
                <a:solidFill>
                  <a:srgbClr val="315C4D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00" b="1">
                <a:solidFill>
                  <a:srgbClr val="315C4D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00" b="1">
                <a:solidFill>
                  <a:srgbClr val="315C4D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00" b="1">
                <a:solidFill>
                  <a:srgbClr val="315C4D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00" b="1">
                <a:solidFill>
                  <a:srgbClr val="315C4D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00" b="1">
                <a:solidFill>
                  <a:srgbClr val="315C4D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500" b="1">
                <a:solidFill>
                  <a:srgbClr val="315C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315C4D"/>
                </a:solidFill>
                <a:latin typeface="Microsoft YaHei"/>
                <a:ea typeface="Microsoft YaHei"/>
                <a:cs typeface="Microsoft YaHei"/>
              </a:rPr>
              <a:t>11</a:t>
            </a:r>
          </a:p>
        </p:txBody>
      </p:sp>
      <p:graphicFrame>
        <p:nvGraphicFrame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DA4E565-0616-43F0-83C5-E2E619FAE658}"/>
              </a:ext>
            </a:extLst>
          </p:cNvPr>
          <p:cNvGraphicFramePr/>
          <p:nvPr/>
        </p:nvGraphicFramePr>
        <p:xfrm>
          <a:off xmlns:a="http://schemas.openxmlformats.org/drawingml/2006/main" x="609600" y="2400300"/>
          <a:ext xmlns:a="http://schemas.openxmlformats.org/drawingml/2006/main" cx="10972800" cy="3171825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3048000"/>
                <a:gridCol w="3581400"/>
                <a:gridCol w="4343400"/>
              </a:tblGrid>
              <a:tr h="533400">
                <a:tc>
                  <a:txBody>
                    <a:bodyPr lIns="152400" tIns="114300" rIns="114300" bIns="95250"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315C4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已有工作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4DCCF"/>
                      </a:solidFill>
                      <a:prstDash val="solid"/>
                    </a:lnL>
                    <a:lnR w="9525">
                      <a:solidFill>
                        <a:srgbClr val="D4DCCF"/>
                      </a:solidFill>
                      <a:prstDash val="solid"/>
                    </a:lnR>
                    <a:lnT w="9525">
                      <a:solidFill>
                        <a:srgbClr val="D4DCCF"/>
                      </a:solidFill>
                      <a:prstDash val="solid"/>
                    </a:lnT>
                    <a:lnB w="9525">
                      <a:solidFill>
                        <a:srgbClr val="D4DCCF"/>
                      </a:solidFill>
                      <a:prstDash val="solid"/>
                    </a:lnB>
                    <a:solidFill>
                      <a:srgbClr val="E8EDDF"/>
                    </a:solidFill>
                  </a:tcPr>
                </a:tc>
                <a:tc>
                  <a:txBody>
                    <a:bodyPr lIns="152400" tIns="114300" rIns="114300" bIns="95250"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315C4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已覆盖的方向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4DCCF"/>
                      </a:solidFill>
                      <a:prstDash val="solid"/>
                    </a:lnR>
                    <a:lnT w="9525">
                      <a:solidFill>
                        <a:srgbClr val="D4DCCF"/>
                      </a:solidFill>
                      <a:prstDash val="solid"/>
                    </a:lnT>
                    <a:lnB w="9525">
                      <a:solidFill>
                        <a:srgbClr val="D4DCCF"/>
                      </a:solidFill>
                      <a:prstDash val="solid"/>
                    </a:lnB>
                    <a:solidFill>
                      <a:srgbClr val="E8EDDF"/>
                    </a:solidFill>
                  </a:tcPr>
                </a:tc>
                <a:tc>
                  <a:txBody>
                    <a:bodyPr lIns="152400" tIns="114300" rIns="114300" bIns="95250"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315C4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KinVoice 需要进一步回答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4DCCF"/>
                      </a:solidFill>
                      <a:prstDash val="solid"/>
                    </a:lnR>
                    <a:lnT w="9525">
                      <a:solidFill>
                        <a:srgbClr val="D4DCCF"/>
                      </a:solidFill>
                      <a:prstDash val="solid"/>
                    </a:lnT>
                    <a:lnB w="9525">
                      <a:solidFill>
                        <a:srgbClr val="D4DCCF"/>
                      </a:solidFill>
                      <a:prstDash val="solid"/>
                    </a:lnB>
                    <a:solidFill>
                      <a:srgbClr val="E8EDDF"/>
                    </a:solidFill>
                  </a:tcPr>
                </a:tc>
              </a:tr>
              <a:tr h="879475">
                <a:tc>
                  <a:txBody>
                    <a:bodyPr lIns="152400" tIns="114300" rIns="114300" bIns="9525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263B3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EmoDynamiX · 2025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4DCCF"/>
                      </a:solidFill>
                      <a:prstDash val="solid"/>
                    </a:lnL>
                    <a:lnR w="9525">
                      <a:solidFill>
                        <a:srgbClr val="D4DCCF"/>
                      </a:solidFill>
                      <a:prstDash val="solid"/>
                    </a:lnR>
                    <a:lnB w="9525">
                      <a:solidFill>
                        <a:srgbClr val="D4DCCF"/>
                      </a:solidFill>
                      <a:prstDash val="solid"/>
                    </a:lnB>
                    <a:solidFill>
                      <a:srgbClr val="F7F6F0"/>
                    </a:solidFill>
                  </a:tcPr>
                </a:tc>
                <a:tc>
                  <a:txBody>
                    <a:bodyPr lIns="152400" tIns="114300" rIns="114300" bIns="9525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263B3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情绪动态、策略与生成分离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4DCCF"/>
                      </a:solidFill>
                      <a:prstDash val="solid"/>
                    </a:lnR>
                    <a:lnB w="9525">
                      <a:solidFill>
                        <a:srgbClr val="D4DCCF"/>
                      </a:solidFill>
                      <a:prstDash val="solid"/>
                    </a:lnB>
                    <a:solidFill>
                      <a:srgbClr val="F7F6F0"/>
                    </a:solidFill>
                  </a:tcPr>
                </a:tc>
                <a:tc>
                  <a:txBody>
                    <a:bodyPr lIns="152400" tIns="114300" rIns="114300" bIns="9525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263B3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原话绑定与确定性约束有多少增益？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4DCCF"/>
                      </a:solidFill>
                      <a:prstDash val="solid"/>
                    </a:lnR>
                    <a:lnB w="9525">
                      <a:solidFill>
                        <a:srgbClr val="D4DCCF"/>
                      </a:solidFill>
                      <a:prstDash val="solid"/>
                    </a:lnB>
                    <a:solidFill>
                      <a:srgbClr val="F7F6F0"/>
                    </a:solidFill>
                  </a:tcPr>
                </a:tc>
              </a:tr>
              <a:tr h="879475">
                <a:tc>
                  <a:txBody>
                    <a:bodyPr lIns="152400" tIns="114300" rIns="114300" bIns="9525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263B3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IntentionESC · 2025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4DCCF"/>
                      </a:solidFill>
                      <a:prstDash val="solid"/>
                    </a:lnL>
                    <a:lnR w="9525">
                      <a:solidFill>
                        <a:srgbClr val="D4DCCF"/>
                      </a:solidFill>
                      <a:prstDash val="solid"/>
                    </a:lnR>
                    <a:lnB w="9525">
                      <a:solidFill>
                        <a:srgbClr val="D4DCCF"/>
                      </a:solidFill>
                      <a:prstDash val="solid"/>
                    </a:lnB>
                    <a:solidFill>
                      <a:srgbClr val="F7F6F0"/>
                    </a:solidFill>
                  </a:tcPr>
                </a:tc>
                <a:tc>
                  <a:txBody>
                    <a:bodyPr lIns="152400" tIns="114300" rIns="114300" bIns="9525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263B3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情绪状态、支持者意图、策略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4DCCF"/>
                      </a:solidFill>
                      <a:prstDash val="solid"/>
                    </a:lnR>
                    <a:lnB w="9525">
                      <a:solidFill>
                        <a:srgbClr val="D4DCCF"/>
                      </a:solidFill>
                      <a:prstDash val="solid"/>
                    </a:lnB>
                    <a:solidFill>
                      <a:srgbClr val="F7F6F0"/>
                    </a:solidFill>
                  </a:tcPr>
                </a:tc>
                <a:tc>
                  <a:txBody>
                    <a:bodyPr lIns="152400" tIns="114300" rIns="114300" bIns="9525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263B3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用户拒绝怎样限制可选策略？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4DCCF"/>
                      </a:solidFill>
                      <a:prstDash val="solid"/>
                    </a:lnR>
                    <a:lnB w="9525">
                      <a:solidFill>
                        <a:srgbClr val="D4DCCF"/>
                      </a:solidFill>
                      <a:prstDash val="solid"/>
                    </a:lnB>
                    <a:solidFill>
                      <a:srgbClr val="F7F6F0"/>
                    </a:solidFill>
                  </a:tcPr>
                </a:tc>
              </a:tr>
              <a:tr h="879475">
                <a:tc>
                  <a:txBody>
                    <a:bodyPr lIns="152400" tIns="114300" rIns="114300" bIns="9525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263B3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AHaBench · 2026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4DCCF"/>
                      </a:solidFill>
                      <a:prstDash val="solid"/>
                    </a:lnL>
                    <a:lnR w="9525">
                      <a:solidFill>
                        <a:srgbClr val="D4DCCF"/>
                      </a:solidFill>
                      <a:prstDash val="solid"/>
                    </a:lnR>
                    <a:lnB w="9525">
                      <a:solidFill>
                        <a:srgbClr val="D4DCCF"/>
                      </a:solidFill>
                      <a:prstDash val="solid"/>
                    </a:lnB>
                    <a:solidFill>
                      <a:srgbClr val="F7F6F0"/>
                    </a:solidFill>
                  </a:tcPr>
                </a:tc>
                <a:tc>
                  <a:txBody>
                    <a:bodyPr lIns="152400" tIns="114300" rIns="114300" bIns="9525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263B3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情感边界、过度依赖等风险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4DCCF"/>
                      </a:solidFill>
                      <a:prstDash val="solid"/>
                    </a:lnR>
                    <a:lnB w="9525">
                      <a:solidFill>
                        <a:srgbClr val="D4DCCF"/>
                      </a:solidFill>
                      <a:prstDash val="solid"/>
                    </a:lnB>
                    <a:solidFill>
                      <a:srgbClr val="F7F6F0"/>
                    </a:solidFill>
                  </a:tcPr>
                </a:tc>
                <a:tc>
                  <a:txBody>
                    <a:bodyPr lIns="152400" tIns="114300" rIns="114300" bIns="9525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263B3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亲子冲突中如何评估边界错误？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4DCCF"/>
                      </a:solidFill>
                      <a:prstDash val="solid"/>
                    </a:lnR>
                    <a:lnB w="9525">
                      <a:solidFill>
                        <a:srgbClr val="D4DCCF"/>
                      </a:solidFill>
                      <a:prstDash val="solid"/>
                    </a:lnB>
                    <a:solidFill>
                      <a:srgbClr val="F7F6F0"/>
                    </a:solidFill>
                  </a:tcPr>
                </a:tc>
              </a:tr>
            </a:tbl>
          </a:graphicData>
        </a:graphic>
      </p:graphicFrame>
      <p:sp>
        <p:nvSpPr>
          <p:cNvPr id="7" name="当前可答：机制与代码已落地。待答：公平预算下能否稳定优于">
            <a:extLst xmlns:a="http://schemas.openxmlformats.org/drawingml/2006/main">
              <a:ext uri="{FF2B5EF4-FFF2-40B4-BE49-F238E27FC236}">
                <a16:creationId xmlns:a16="http://schemas.microsoft.com/office/drawing/2014/main" id="{07F70895-8824-4C90-A222-16A25ABF96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76925"/>
            <a:ext cx="10972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75" b="0">
                <a:solidFill>
                  <a:srgbClr val="315C4D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875" b="0">
                <a:solidFill>
                  <a:srgbClr val="315C4D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875" b="0">
                <a:solidFill>
                  <a:srgbClr val="315C4D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875" b="0">
                <a:solidFill>
                  <a:srgbClr val="315C4D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875" b="0">
                <a:solidFill>
                  <a:srgbClr val="315C4D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875" b="0">
                <a:solidFill>
                  <a:srgbClr val="315C4D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875" b="0">
                <a:solidFill>
                  <a:srgbClr val="315C4D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875" b="0">
                <a:solidFill>
                  <a:srgbClr val="315C4D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875" b="0">
                <a:solidFill>
                  <a:srgbClr val="315C4D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875" b="0">
                <a:solidFill>
                  <a:srgbClr val="315C4D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315C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315C4D"/>
                </a:solidFill>
                <a:latin typeface="Microsoft YaHei"/>
                <a:ea typeface="Microsoft YaHei"/>
                <a:cs typeface="Microsoft YaHei"/>
              </a:rPr>
              <a:t>当前可答：机制与代码已落地。待答：公平预算下能否稳定优于强基线。</a:t>
            </a:r>
          </a:p>
        </p:txBody>
      </p:sp>
    </p:spTree>
    <p:extLst>
      <p:ext uri="{BB962C8B-B14F-4D97-AF65-F5344CB8AC3E}">
        <p14:creationId xmlns:p14="http://schemas.microsoft.com/office/powerpoint/2010/main" val="1938572613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7F6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06  /  验证方案 · 尚未执行">
            <a:extLst xmlns:a="http://schemas.openxmlformats.org/drawingml/2006/main">
              <a:ext uri="{FF2B5EF4-FFF2-40B4-BE49-F238E27FC236}">
                <a16:creationId xmlns:a16="http://schemas.microsoft.com/office/drawing/2014/main" id="{FA3DCE23-520F-4054-9BE6-8189B74F8D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9525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650" b="1">
                <a:solidFill>
                  <a:srgbClr val="315C4D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buNone/>
              <a:defRPr sz="1650" b="1">
                <a:solidFill>
                  <a:srgbClr val="315C4D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buNone/>
              <a:defRPr sz="1650" b="1">
                <a:solidFill>
                  <a:srgbClr val="315C4D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buNone/>
              <a:defRPr sz="1650" b="1">
                <a:solidFill>
                  <a:srgbClr val="315C4D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buNone/>
              <a:defRPr sz="1650" b="1">
                <a:solidFill>
                  <a:srgbClr val="315C4D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buNone/>
              <a:defRPr sz="1650" b="1">
                <a:solidFill>
                  <a:srgbClr val="315C4D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buNone/>
              <a:defRPr sz="1650" b="1">
                <a:solidFill>
                  <a:srgbClr val="315C4D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buNone/>
              <a:defRPr sz="1650" b="1">
                <a:solidFill>
                  <a:srgbClr val="315C4D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buNone/>
              <a:defRPr sz="1650" b="1">
                <a:solidFill>
                  <a:srgbClr val="315C4D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buNone/>
              <a:defRPr sz="1650" b="1">
                <a:solidFill>
                  <a:srgbClr val="315C4D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buNone/>
              <a:defRPr sz="1650" b="1">
                <a:solidFill>
                  <a:srgbClr val="315C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315C4D"/>
                </a:solidFill>
                <a:latin typeface="Microsoft YaHei"/>
                <a:ea typeface="Microsoft YaHei"/>
                <a:cs typeface="Microsoft YaHei"/>
              </a:rPr>
              <a:t>备答 B  /  实验协议 · 尚未执行</a:t>
            </a:r>
          </a:p>
        </p:txBody>
      </p:sp>
      <p:sp>
        <p:nvSpPr>
          <p:cNvPr id="2" name="强基线、消融和专业盲评，共同回答技术问题。">
            <a:extLst xmlns:a="http://schemas.openxmlformats.org/drawingml/2006/main">
              <a:ext uri="{FF2B5EF4-FFF2-40B4-BE49-F238E27FC236}">
                <a16:creationId xmlns:a16="http://schemas.microsoft.com/office/drawing/2014/main" id="{74692F44-3C2C-49CE-840A-981DE969FA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47725"/>
            <a:ext cx="11049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300" b="1">
                <a:solidFill>
                  <a:srgbClr val="263B32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buNone/>
              <a:defRPr sz="3300" b="1">
                <a:solidFill>
                  <a:srgbClr val="263B32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buNone/>
              <a:defRPr sz="3300" b="1">
                <a:solidFill>
                  <a:srgbClr val="263B32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buNone/>
              <a:defRPr sz="3300" b="1">
                <a:solidFill>
                  <a:srgbClr val="263B32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buNone/>
              <a:defRPr sz="3300" b="1">
                <a:solidFill>
                  <a:srgbClr val="263B32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buNone/>
              <a:defRPr sz="3300" b="1">
                <a:solidFill>
                  <a:srgbClr val="263B32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buNone/>
              <a:defRPr sz="3300" b="1">
                <a:solidFill>
                  <a:srgbClr val="263B32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buNone/>
              <a:defRPr sz="3300" b="1">
                <a:solidFill>
                  <a:srgbClr val="263B32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buNone/>
              <a:defRPr sz="3300" b="1">
                <a:solidFill>
                  <a:srgbClr val="263B32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buNone/>
              <a:defRPr sz="3300" b="1">
                <a:solidFill>
                  <a:srgbClr val="263B32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buNone/>
              <a:defRPr sz="3300" b="1">
                <a:solidFill>
                  <a:srgbClr val="263B3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263B32"/>
                </a:solidFill>
                <a:latin typeface="Microsoft YaHei"/>
                <a:ea typeface="Microsoft YaHei"/>
                <a:cs typeface="Microsoft YaHei"/>
              </a:rPr>
              <a:t>用强基线与消融，检验每个机制的价值。</a:t>
            </a:r>
          </a:p>
        </p:txBody>
      </p:sp>
      <p:sp>
        <p:nvSpPr>
          <p:cNvPr id="3" name="先冻结数据与协议；保留失败案例、调用成本和不确定性。">
            <a:extLst xmlns:a="http://schemas.openxmlformats.org/drawingml/2006/main">
              <a:ext uri="{FF2B5EF4-FFF2-40B4-BE49-F238E27FC236}">
                <a16:creationId xmlns:a16="http://schemas.microsoft.com/office/drawing/2014/main" id="{F849AEB9-6AE3-4478-A3B0-0D4FBF6F5D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28775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950" b="0">
                <a:solidFill>
                  <a:srgbClr val="637368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buNone/>
              <a:defRPr sz="1950" b="0">
                <a:solidFill>
                  <a:srgbClr val="637368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buNone/>
              <a:defRPr sz="1950" b="0">
                <a:solidFill>
                  <a:srgbClr val="637368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buNone/>
              <a:defRPr sz="1950" b="0">
                <a:solidFill>
                  <a:srgbClr val="637368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buNone/>
              <a:defRPr sz="1950" b="0">
                <a:solidFill>
                  <a:srgbClr val="637368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buNone/>
              <a:defRPr sz="1950" b="0">
                <a:solidFill>
                  <a:srgbClr val="637368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buNone/>
              <a:defRPr sz="1950" b="0">
                <a:solidFill>
                  <a:srgbClr val="637368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buNone/>
              <a:defRPr sz="1950" b="0">
                <a:solidFill>
                  <a:srgbClr val="637368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buNone/>
              <a:defRPr sz="1950" b="0">
                <a:solidFill>
                  <a:srgbClr val="637368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buNone/>
              <a:defRPr sz="1950" b="0">
                <a:solidFill>
                  <a:srgbClr val="63736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buNone/>
              <a:defRPr sz="1950" b="0">
                <a:solidFill>
                  <a:srgbClr val="6373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637368"/>
                </a:solidFill>
                <a:latin typeface="Microsoft YaHei"/>
                <a:ea typeface="Microsoft YaHei"/>
                <a:cs typeface="Microsoft YaHei"/>
              </a:rPr>
              <a:t>冻结数据、模型版本与预算；专业盲评同时检查有用性、安全和过度拒答。</a:t>
            </a:r>
          </a:p>
        </p:txBody>
      </p:sp>
      <p:sp>
        <p:nvSpPr>
          <p:cNvPr id="4" name="KinVoice  /  内部答辩演示 · 2026.1">
            <a:extLst xmlns:a="http://schemas.openxmlformats.org/drawingml/2006/main">
              <a:ext uri="{FF2B5EF4-FFF2-40B4-BE49-F238E27FC236}">
                <a16:creationId xmlns:a16="http://schemas.microsoft.com/office/drawing/2014/main" id="{5E011AE8-B003-42D9-A419-0C135CB701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48425"/>
            <a:ext cx="9620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350" b="0">
                <a:solidFill>
                  <a:srgbClr val="637368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buNone/>
              <a:defRPr sz="1350" b="0">
                <a:solidFill>
                  <a:srgbClr val="637368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buNone/>
              <a:defRPr sz="1350" b="0">
                <a:solidFill>
                  <a:srgbClr val="637368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buNone/>
              <a:defRPr sz="1350" b="0">
                <a:solidFill>
                  <a:srgbClr val="637368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buNone/>
              <a:defRPr sz="1350" b="0">
                <a:solidFill>
                  <a:srgbClr val="637368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buNone/>
              <a:defRPr sz="1350" b="0">
                <a:solidFill>
                  <a:srgbClr val="637368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buNone/>
              <a:defRPr sz="1350" b="0">
                <a:solidFill>
                  <a:srgbClr val="637368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buNone/>
              <a:defRPr sz="1350" b="0">
                <a:solidFill>
                  <a:srgbClr val="637368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buNone/>
              <a:defRPr sz="1350" b="0">
                <a:solidFill>
                  <a:srgbClr val="637368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buNone/>
              <a:defRPr sz="1350" b="0">
                <a:solidFill>
                  <a:srgbClr val="63736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buNone/>
              <a:defRPr sz="1350" b="0">
                <a:solidFill>
                  <a:srgbClr val="6373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37368"/>
                </a:solidFill>
                <a:latin typeface="Microsoft YaHei"/>
                <a:ea typeface="Microsoft YaHei"/>
                <a:cs typeface="Microsoft YaHei"/>
              </a:rPr>
              <a:t>KinVoice  /  内部答辩演示 · v0.5 · 2026.10</a:t>
            </a:r>
          </a:p>
        </p:txBody>
      </p:sp>
      <p:sp>
        <p:nvSpPr>
          <p:cNvPr id="5" name="07">
            <a:extLst xmlns:a="http://schemas.openxmlformats.org/drawingml/2006/main">
              <a:ext uri="{FF2B5EF4-FFF2-40B4-BE49-F238E27FC236}">
                <a16:creationId xmlns:a16="http://schemas.microsoft.com/office/drawing/2014/main" id="{9057C5AE-05AA-4DD2-9D61-A25FC45D3C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77575" y="6419850"/>
            <a:ext cx="5048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500" b="1">
                <a:solidFill>
                  <a:srgbClr val="315C4D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buNone/>
              <a:defRPr sz="1500" b="1">
                <a:solidFill>
                  <a:srgbClr val="315C4D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buNone/>
              <a:defRPr sz="1500" b="1">
                <a:solidFill>
                  <a:srgbClr val="315C4D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buNone/>
              <a:defRPr sz="1500" b="1">
                <a:solidFill>
                  <a:srgbClr val="315C4D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buNone/>
              <a:defRPr sz="1500" b="1">
                <a:solidFill>
                  <a:srgbClr val="315C4D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buNone/>
              <a:defRPr sz="1500" b="1">
                <a:solidFill>
                  <a:srgbClr val="315C4D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buNone/>
              <a:defRPr sz="1500" b="1">
                <a:solidFill>
                  <a:srgbClr val="315C4D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buNone/>
              <a:defRPr sz="1500" b="1">
                <a:solidFill>
                  <a:srgbClr val="315C4D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buNone/>
              <a:defRPr sz="1500" b="1">
                <a:solidFill>
                  <a:srgbClr val="315C4D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buNone/>
              <a:defRPr sz="1500" b="1">
                <a:solidFill>
                  <a:srgbClr val="315C4D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buNone/>
              <a:defRPr sz="1500" b="1">
                <a:solidFill>
                  <a:srgbClr val="315C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315C4D"/>
                </a:solidFill>
                <a:latin typeface="Microsoft YaHei"/>
                <a:ea typeface="Microsoft YaHei"/>
                <a:cs typeface="Microsoft YaHei"/>
              </a:rPr>
              <a:t>12</a:t>
            </a:r>
          </a:p>
        </p:txBody>
      </p:sp>
      <p:sp>
        <p:nvSpPr>
          <p:cNvPr id="6" name="比较什么">
            <a:extLst xmlns:a="http://schemas.openxmlformats.org/drawingml/2006/main">
              <a:ext uri="{FF2B5EF4-FFF2-40B4-BE49-F238E27FC236}">
                <a16:creationId xmlns:a16="http://schemas.microsoft.com/office/drawing/2014/main" id="{85A347AE-CB66-4AEE-BC1A-5C31B96B76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71750"/>
            <a:ext cx="3333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550" b="1">
                <a:solidFill>
                  <a:srgbClr val="315C4D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buNone/>
              <a:defRPr sz="2550" b="1">
                <a:solidFill>
                  <a:srgbClr val="315C4D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buNone/>
              <a:defRPr sz="2550" b="1">
                <a:solidFill>
                  <a:srgbClr val="315C4D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buNone/>
              <a:defRPr sz="2550" b="1">
                <a:solidFill>
                  <a:srgbClr val="315C4D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buNone/>
              <a:defRPr sz="2550" b="1">
                <a:solidFill>
                  <a:srgbClr val="315C4D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buNone/>
              <a:defRPr sz="2550" b="1">
                <a:solidFill>
                  <a:srgbClr val="315C4D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buNone/>
              <a:defRPr sz="2550" b="1">
                <a:solidFill>
                  <a:srgbClr val="315C4D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buNone/>
              <a:defRPr sz="2550" b="1">
                <a:solidFill>
                  <a:srgbClr val="315C4D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buNone/>
              <a:defRPr sz="2550" b="1">
                <a:solidFill>
                  <a:srgbClr val="315C4D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buNone/>
              <a:defRPr sz="2550" b="1">
                <a:solidFill>
                  <a:srgbClr val="315C4D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buNone/>
              <a:defRPr sz="2550" b="1">
                <a:solidFill>
                  <a:srgbClr val="315C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315C4D"/>
                </a:solidFill>
                <a:latin typeface="Microsoft YaHei"/>
                <a:ea typeface="Microsoft YaHei"/>
                <a:cs typeface="Microsoft YaHei"/>
              </a:rPr>
              <a:t>比较什么</a:t>
            </a:r>
          </a:p>
        </p:txBody>
      </p:sp>
      <p:sp>
        <p:nvSpPr>
          <p:cNvPr id="7" name="强提示词基线&#10;预算对齐多步基线&#10;完整 C-CARE&#10;移除">
            <a:extLst xmlns:a="http://schemas.openxmlformats.org/drawingml/2006/main">
              <a:ext uri="{FF2B5EF4-FFF2-40B4-BE49-F238E27FC236}">
                <a16:creationId xmlns:a16="http://schemas.microsoft.com/office/drawing/2014/main" id="{87A1FF2C-91C5-401B-8F41-B0994D5E99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43275"/>
            <a:ext cx="3333750" cy="2238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00" b="0">
                <a:solidFill>
                  <a:srgbClr val="263B32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buNone/>
              <a:defRPr sz="2100" b="0">
                <a:solidFill>
                  <a:srgbClr val="263B32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buNone/>
              <a:defRPr sz="2100" b="0">
                <a:solidFill>
                  <a:srgbClr val="263B32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buNone/>
              <a:defRPr sz="2100" b="0">
                <a:solidFill>
                  <a:srgbClr val="263B32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buNone/>
              <a:defRPr sz="2100" b="0">
                <a:solidFill>
                  <a:srgbClr val="263B32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buNone/>
              <a:defRPr sz="2100" b="0">
                <a:solidFill>
                  <a:srgbClr val="263B32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buNone/>
              <a:defRPr sz="2100" b="0">
                <a:solidFill>
                  <a:srgbClr val="263B32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buNone/>
              <a:defRPr sz="2100" b="0">
                <a:solidFill>
                  <a:srgbClr val="263B32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buNone/>
              <a:defRPr sz="2100" b="0">
                <a:solidFill>
                  <a:srgbClr val="263B32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buNone/>
              <a:defRPr sz="2100" b="0">
                <a:solidFill>
                  <a:srgbClr val="263B32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buNone/>
              <a:defRPr sz="2100" b="0">
                <a:solidFill>
                  <a:srgbClr val="263B3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63B32"/>
                </a:solidFill>
                <a:latin typeface="Microsoft YaHei"/>
                <a:ea typeface="Microsoft YaHei"/>
                <a:cs typeface="Microsoft YaHei"/>
              </a:rPr>
              <a:t>强提示词基线</a:t>
            </a:r>
          </a:p>
          <a:p xmlns:a="http://schemas.openxmlformats.org/drawingml/2006/main">
            <a:pPr>
              <a:buNone/>
              <a:defRPr sz="2100" b="0">
                <a:solidFill>
                  <a:srgbClr val="263B3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63B32"/>
                </a:solidFill>
                <a:latin typeface="Microsoft YaHei"/>
                <a:ea typeface="Microsoft YaHei"/>
                <a:cs typeface="Microsoft YaHei"/>
              </a:rPr>
              <a:t>预算对齐多步基线</a:t>
            </a:r>
          </a:p>
          <a:p xmlns:a="http://schemas.openxmlformats.org/drawingml/2006/main">
            <a:pPr>
              <a:buNone/>
              <a:defRPr sz="2100" b="0">
                <a:solidFill>
                  <a:srgbClr val="263B3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63B32"/>
                </a:solidFill>
                <a:latin typeface="Microsoft YaHei"/>
                <a:ea typeface="Microsoft YaHei"/>
                <a:cs typeface="Microsoft YaHei"/>
              </a:rPr>
              <a:t>完整 C-CARE</a:t>
            </a:r>
          </a:p>
          <a:p xmlns:a="http://schemas.openxmlformats.org/drawingml/2006/main">
            <a:pPr>
              <a:buNone/>
              <a:defRPr sz="2100" b="0">
                <a:solidFill>
                  <a:srgbClr val="263B3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63B32"/>
                </a:solidFill>
                <a:latin typeface="Microsoft YaHei"/>
                <a:ea typeface="Microsoft YaHei"/>
                <a:cs typeface="Microsoft YaHei"/>
              </a:rPr>
              <a:t>移除关键模块的消融</a:t>
            </a:r>
          </a:p>
        </p:txBody>
      </p:sp>
      <p:sp>
        <p:nvSpPr>
          <p:cNvPr id="8" name="如何评价">
            <a:extLst xmlns:a="http://schemas.openxmlformats.org/drawingml/2006/main">
              <a:ext uri="{FF2B5EF4-FFF2-40B4-BE49-F238E27FC236}">
                <a16:creationId xmlns:a16="http://schemas.microsoft.com/office/drawing/2014/main" id="{AA6745D2-D954-4946-AFB3-75896C7C46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2571750"/>
            <a:ext cx="3333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550" b="1">
                <a:solidFill>
                  <a:srgbClr val="315C4D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buNone/>
              <a:defRPr sz="2550" b="1">
                <a:solidFill>
                  <a:srgbClr val="315C4D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buNone/>
              <a:defRPr sz="2550" b="1">
                <a:solidFill>
                  <a:srgbClr val="315C4D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buNone/>
              <a:defRPr sz="2550" b="1">
                <a:solidFill>
                  <a:srgbClr val="315C4D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buNone/>
              <a:defRPr sz="2550" b="1">
                <a:solidFill>
                  <a:srgbClr val="315C4D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buNone/>
              <a:defRPr sz="2550" b="1">
                <a:solidFill>
                  <a:srgbClr val="315C4D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buNone/>
              <a:defRPr sz="2550" b="1">
                <a:solidFill>
                  <a:srgbClr val="315C4D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buNone/>
              <a:defRPr sz="2550" b="1">
                <a:solidFill>
                  <a:srgbClr val="315C4D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buNone/>
              <a:defRPr sz="2550" b="1">
                <a:solidFill>
                  <a:srgbClr val="315C4D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buNone/>
              <a:defRPr sz="2550" b="1">
                <a:solidFill>
                  <a:srgbClr val="315C4D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buNone/>
              <a:defRPr sz="2550" b="1">
                <a:solidFill>
                  <a:srgbClr val="315C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315C4D"/>
                </a:solidFill>
                <a:latin typeface="Microsoft YaHei"/>
                <a:ea typeface="Microsoft YaHei"/>
                <a:cs typeface="Microsoft YaHei"/>
              </a:rPr>
              <a:t>如何评价</a:t>
            </a:r>
          </a:p>
        </p:txBody>
      </p:sp>
      <p:sp>
        <p:nvSpPr>
          <p:cNvPr id="9" name="约束违反与危险遗漏&#10;支持有用性与过度拒答&#10;专业双人盲评、">
            <a:extLst xmlns:a="http://schemas.openxmlformats.org/drawingml/2006/main">
              <a:ext uri="{FF2B5EF4-FFF2-40B4-BE49-F238E27FC236}">
                <a16:creationId xmlns:a16="http://schemas.microsoft.com/office/drawing/2014/main" id="{735ED882-8987-4875-9766-F68B596E9F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3343275"/>
            <a:ext cx="3333750" cy="2238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00" b="0">
                <a:solidFill>
                  <a:srgbClr val="263B32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buNone/>
              <a:defRPr sz="2100" b="0">
                <a:solidFill>
                  <a:srgbClr val="263B32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buNone/>
              <a:defRPr sz="2100" b="0">
                <a:solidFill>
                  <a:srgbClr val="263B32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buNone/>
              <a:defRPr sz="2100" b="0">
                <a:solidFill>
                  <a:srgbClr val="263B32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buNone/>
              <a:defRPr sz="2100" b="0">
                <a:solidFill>
                  <a:srgbClr val="263B32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buNone/>
              <a:defRPr sz="2100" b="0">
                <a:solidFill>
                  <a:srgbClr val="263B32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buNone/>
              <a:defRPr sz="2100" b="0">
                <a:solidFill>
                  <a:srgbClr val="263B32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buNone/>
              <a:defRPr sz="2100" b="0">
                <a:solidFill>
                  <a:srgbClr val="263B32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buNone/>
              <a:defRPr sz="2100" b="0">
                <a:solidFill>
                  <a:srgbClr val="263B32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buNone/>
              <a:defRPr sz="2100" b="0">
                <a:solidFill>
                  <a:srgbClr val="263B32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buNone/>
              <a:defRPr sz="2100" b="0">
                <a:solidFill>
                  <a:srgbClr val="263B3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63B32"/>
                </a:solidFill>
                <a:latin typeface="Microsoft YaHei"/>
                <a:ea typeface="Microsoft YaHei"/>
                <a:cs typeface="Microsoft YaHei"/>
              </a:rPr>
              <a:t>约束违反与危险遗漏</a:t>
            </a:r>
          </a:p>
          <a:p xmlns:a="http://schemas.openxmlformats.org/drawingml/2006/main">
            <a:pPr>
              <a:buNone/>
              <a:defRPr sz="2100" b="0">
                <a:solidFill>
                  <a:srgbClr val="263B3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63B32"/>
                </a:solidFill>
                <a:latin typeface="Microsoft YaHei"/>
                <a:ea typeface="Microsoft YaHei"/>
                <a:cs typeface="Microsoft YaHei"/>
              </a:rPr>
              <a:t>支持有用性与过度拒答</a:t>
            </a:r>
          </a:p>
          <a:p xmlns:a="http://schemas.openxmlformats.org/drawingml/2006/main">
            <a:pPr>
              <a:buNone/>
              <a:defRPr sz="2100" b="0">
                <a:solidFill>
                  <a:srgbClr val="263B3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63B32"/>
                </a:solidFill>
                <a:latin typeface="Microsoft YaHei"/>
                <a:ea typeface="Microsoft YaHei"/>
                <a:cs typeface="Microsoft YaHei"/>
              </a:rPr>
              <a:t>专业双人盲评、争议裁决</a:t>
            </a:r>
          </a:p>
          <a:p xmlns:a="http://schemas.openxmlformats.org/drawingml/2006/main">
            <a:pPr>
              <a:buNone/>
              <a:defRPr sz="2100" b="0">
                <a:solidFill>
                  <a:srgbClr val="263B3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63B32"/>
                </a:solidFill>
                <a:latin typeface="Microsoft YaHei"/>
                <a:ea typeface="Microsoft YaHei"/>
                <a:cs typeface="Microsoft YaHei"/>
              </a:rPr>
              <a:t>成本、时延与失败率</a:t>
            </a:r>
          </a:p>
        </p:txBody>
      </p:sp>
      <p:sp>
        <p:nvSpPr>
          <p:cNvPr id="10" name="数据怎么来">
            <a:extLst xmlns:a="http://schemas.openxmlformats.org/drawingml/2006/main">
              <a:ext uri="{FF2B5EF4-FFF2-40B4-BE49-F238E27FC236}">
                <a16:creationId xmlns:a16="http://schemas.microsoft.com/office/drawing/2014/main" id="{7A8AF188-71C4-40A8-A764-F96F38C31A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571750"/>
            <a:ext cx="3333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550" b="1">
                <a:solidFill>
                  <a:srgbClr val="315C4D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buNone/>
              <a:defRPr sz="2550" b="1">
                <a:solidFill>
                  <a:srgbClr val="315C4D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buNone/>
              <a:defRPr sz="2550" b="1">
                <a:solidFill>
                  <a:srgbClr val="315C4D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buNone/>
              <a:defRPr sz="2550" b="1">
                <a:solidFill>
                  <a:srgbClr val="315C4D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buNone/>
              <a:defRPr sz="2550" b="1">
                <a:solidFill>
                  <a:srgbClr val="315C4D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buNone/>
              <a:defRPr sz="2550" b="1">
                <a:solidFill>
                  <a:srgbClr val="315C4D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buNone/>
              <a:defRPr sz="2550" b="1">
                <a:solidFill>
                  <a:srgbClr val="315C4D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buNone/>
              <a:defRPr sz="2550" b="1">
                <a:solidFill>
                  <a:srgbClr val="315C4D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buNone/>
              <a:defRPr sz="2550" b="1">
                <a:solidFill>
                  <a:srgbClr val="315C4D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buNone/>
              <a:defRPr sz="2550" b="1">
                <a:solidFill>
                  <a:srgbClr val="315C4D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buNone/>
              <a:defRPr sz="2550" b="1">
                <a:solidFill>
                  <a:srgbClr val="315C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315C4D"/>
                </a:solidFill>
                <a:latin typeface="Microsoft YaHei"/>
                <a:ea typeface="Microsoft YaHei"/>
                <a:cs typeface="Microsoft YaHei"/>
              </a:rPr>
              <a:t>数据怎么来</a:t>
            </a:r>
          </a:p>
        </p:txBody>
      </p:sp>
      <p:sp>
        <p:nvSpPr>
          <p:cNvPr id="11" name="授权数据或原创情境&#10;按母案例隔离划分&#10;标签与模板先经审阅">
            <a:extLst xmlns:a="http://schemas.openxmlformats.org/drawingml/2006/main">
              <a:ext uri="{FF2B5EF4-FFF2-40B4-BE49-F238E27FC236}">
                <a16:creationId xmlns:a16="http://schemas.microsoft.com/office/drawing/2014/main" id="{BF7E7BCF-EB5A-4ED1-BB62-36D8B73C14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3343275"/>
            <a:ext cx="3333750" cy="2238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00" b="0">
                <a:solidFill>
                  <a:srgbClr val="263B32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buNone/>
              <a:defRPr sz="2100" b="0">
                <a:solidFill>
                  <a:srgbClr val="263B32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buNone/>
              <a:defRPr sz="2100" b="0">
                <a:solidFill>
                  <a:srgbClr val="263B32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buNone/>
              <a:defRPr sz="2100" b="0">
                <a:solidFill>
                  <a:srgbClr val="263B32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buNone/>
              <a:defRPr sz="2100" b="0">
                <a:solidFill>
                  <a:srgbClr val="263B32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buNone/>
              <a:defRPr sz="2100" b="0">
                <a:solidFill>
                  <a:srgbClr val="263B32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buNone/>
              <a:defRPr sz="2100" b="0">
                <a:solidFill>
                  <a:srgbClr val="263B32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buNone/>
              <a:defRPr sz="2100" b="0">
                <a:solidFill>
                  <a:srgbClr val="263B32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buNone/>
              <a:defRPr sz="2100" b="0">
                <a:solidFill>
                  <a:srgbClr val="263B32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buNone/>
              <a:defRPr sz="2100" b="0">
                <a:solidFill>
                  <a:srgbClr val="263B32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buNone/>
              <a:defRPr sz="2100" b="0">
                <a:solidFill>
                  <a:srgbClr val="263B3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63B32"/>
                </a:solidFill>
                <a:latin typeface="Microsoft YaHei"/>
                <a:ea typeface="Microsoft YaHei"/>
                <a:cs typeface="Microsoft YaHei"/>
              </a:rPr>
              <a:t>授权数据或原创情境</a:t>
            </a:r>
          </a:p>
          <a:p xmlns:a="http://schemas.openxmlformats.org/drawingml/2006/main">
            <a:pPr>
              <a:buNone/>
              <a:defRPr sz="2100" b="0">
                <a:solidFill>
                  <a:srgbClr val="263B3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63B32"/>
                </a:solidFill>
                <a:latin typeface="Microsoft YaHei"/>
                <a:ea typeface="Microsoft YaHei"/>
                <a:cs typeface="Microsoft YaHei"/>
              </a:rPr>
              <a:t>按母案例隔离划分</a:t>
            </a:r>
          </a:p>
          <a:p xmlns:a="http://schemas.openxmlformats.org/drawingml/2006/main">
            <a:pPr>
              <a:buNone/>
              <a:defRPr sz="2100" b="0">
                <a:solidFill>
                  <a:srgbClr val="263B3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63B32"/>
                </a:solidFill>
                <a:latin typeface="Microsoft YaHei"/>
                <a:ea typeface="Microsoft YaHei"/>
                <a:cs typeface="Microsoft YaHei"/>
              </a:rPr>
              <a:t>标签与模板先经审阅</a:t>
            </a:r>
          </a:p>
          <a:p xmlns:a="http://schemas.openxmlformats.org/drawingml/2006/main">
            <a:pPr>
              <a:buNone/>
              <a:defRPr sz="2100" b="0">
                <a:solidFill>
                  <a:srgbClr val="263B3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63B32"/>
                </a:solidFill>
                <a:latin typeface="Microsoft YaHei"/>
                <a:ea typeface="Microsoft YaHei"/>
                <a:cs typeface="Microsoft YaHei"/>
              </a:rPr>
              <a:t>保留版本、来源与撤回规则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577BE06-16CA-43E2-8220-A58C1F452C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6262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DCCF"/>
          </a:solidFill>
          <a:ln xmlns:a="http://schemas.openxmlformats.org/drawingml/2006/main" w="0">
            <a:noFill/>
          </a:ln>
        </p:spPr>
      </p:sp>
      <p:sp>
        <p:nvSpPr>
          <p:cNvPr id="13" name="核心判断：有用性与安全错误同时报告，不能只展示好看的案例">
            <a:extLst xmlns:a="http://schemas.openxmlformats.org/drawingml/2006/main">
              <a:ext uri="{FF2B5EF4-FFF2-40B4-BE49-F238E27FC236}">
                <a16:creationId xmlns:a16="http://schemas.microsoft.com/office/drawing/2014/main" id="{6C7F9F9E-CC6C-43B2-BD42-86D9FBE424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81700"/>
            <a:ext cx="10953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75" b="0">
                <a:solidFill>
                  <a:srgbClr val="315C4D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buNone/>
              <a:defRPr sz="1875" b="0">
                <a:solidFill>
                  <a:srgbClr val="315C4D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buNone/>
              <a:defRPr sz="1875" b="0">
                <a:solidFill>
                  <a:srgbClr val="315C4D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buNone/>
              <a:defRPr sz="1875" b="0">
                <a:solidFill>
                  <a:srgbClr val="315C4D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buNone/>
              <a:defRPr sz="1875" b="0">
                <a:solidFill>
                  <a:srgbClr val="315C4D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buNone/>
              <a:defRPr sz="1875" b="0">
                <a:solidFill>
                  <a:srgbClr val="315C4D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buNone/>
              <a:defRPr sz="1875" b="0">
                <a:solidFill>
                  <a:srgbClr val="315C4D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buNone/>
              <a:defRPr sz="1875" b="0">
                <a:solidFill>
                  <a:srgbClr val="315C4D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buNone/>
              <a:defRPr sz="1875" b="0">
                <a:solidFill>
                  <a:srgbClr val="315C4D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buNone/>
              <a:defRPr sz="1875" b="0">
                <a:solidFill>
                  <a:srgbClr val="315C4D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buNone/>
              <a:defRPr sz="1875" b="0">
                <a:solidFill>
                  <a:srgbClr val="315C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315C4D"/>
                </a:solidFill>
                <a:latin typeface="Microsoft YaHei"/>
                <a:ea typeface="Microsoft YaHei"/>
                <a:cs typeface="Microsoft YaHei"/>
              </a:rPr>
              <a:t>核心判断：有用性与安全错误同时报告，不能只展示好看的案例。</a:t>
            </a:r>
          </a:p>
        </p:txBody>
      </p:sp>
    </p:spTree>
    <p:extLst>
      <p:ext uri="{BB962C8B-B14F-4D97-AF65-F5344CB8AC3E}">
        <p14:creationId xmlns:p14="http://schemas.microsoft.com/office/powerpoint/2010/main" val="142345997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2026-10-23T15:50:18.4860000Z</dcterms:created>
  <dcterms:modified xsi:type="dcterms:W3CDTF">2026-10-23T15:50:18.4860000Z</dcterms:modified>
</coreProperties>
</file>